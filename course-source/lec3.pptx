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5.xml" ContentType="application/vnd.openxmlformats-officedocument.presentationml.notesSlide+xml"/>
  <Override PartName="/ppt/tags/tag34.xml" ContentType="application/vnd.openxmlformats-officedocument.presentationml.tags+xml"/>
  <Override PartName="/ppt/notesSlides/notesSlide16.xml" ContentType="application/vnd.openxmlformats-officedocument.presentationml.notesSlide+xml"/>
  <Override PartName="/ppt/tags/tag35.xml" ContentType="application/vnd.openxmlformats-officedocument.presentationml.tags+xml"/>
  <Override PartName="/ppt/notesSlides/notesSlide17.xml" ContentType="application/vnd.openxmlformats-officedocument.presentationml.notesSlide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notesSlides/notesSlide19.xml" ContentType="application/vnd.openxmlformats-officedocument.presentationml.notesSlide+xml"/>
  <Override PartName="/ppt/tags/tag38.xml" ContentType="application/vnd.openxmlformats-officedocument.presentationml.tags+xml"/>
  <Override PartName="/ppt/notesSlides/notesSlide20.xml" ContentType="application/vnd.openxmlformats-officedocument.presentationml.notesSlide+xml"/>
  <Override PartName="/ppt/tags/tag39.xml" ContentType="application/vnd.openxmlformats-officedocument.presentationml.tags+xml"/>
  <Override PartName="/ppt/notesSlides/notesSlide21.xml" ContentType="application/vnd.openxmlformats-officedocument.presentationml.notesSlide+xml"/>
  <Override PartName="/ppt/tags/tag40.xml" ContentType="application/vnd.openxmlformats-officedocument.presentationml.tags+xml"/>
  <Override PartName="/ppt/notesSlides/notesSlide22.xml" ContentType="application/vnd.openxmlformats-officedocument.presentationml.notesSlide+xml"/>
  <Override PartName="/ppt/tags/tag41.xml" ContentType="application/vnd.openxmlformats-officedocument.presentationml.tags+xml"/>
  <Override PartName="/ppt/notesSlides/notesSlide2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6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671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673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3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710556-746B-4100-A43D-02D154CB7326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02DCB5-3D3D-4046-9CA1-F21CF4ABD7C1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A5F001-E728-00C8-5CD9-F93915BD2C8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A3C12A-10AD-6588-50BD-7FB90221BAF9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BFDB32-BE74-C055-6B59-274FD2543298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82895A-D91E-2453-551B-A67F69E58CFA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6FCFA5-8FB1-CACC-BCAB-AA9B67574CF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48A5A5-CFDA-6E5F-1148-51EEBEB47118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074478-64B6-9BB6-FA62-8812E1696BAD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B625A-585D-C2AF-D94E-2DDF811CBF4D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F95465-1171-DE77-DBC9-1353F199C2E7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0D46DF-C3B0-C0BD-492B-BAF2DFE4AB6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961FD3-29C2-CA90-6CA8-D6A5E8E28478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0905D0-9D30-BE8D-1CDF-194123E2880F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2286C-498C-3BA4-2004-93C240EDBB4B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F8615A-C0B0-EEC4-ACA5-87CCA9B95DE7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23401C-1C41-48EA-A24D-18C3990FE645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46C189-01AA-7588-E99E-08F65A33B86E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02888-55BF-907C-46B0-6F37AC05B62C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0ADF51-9690-BE23-61C5-89C9D707A92C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2F6371-09B4-79AA-571C-B741EAB76FC5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C6952B-CA41-A654-0842-79B95B780ADC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6DF44C-8007-8B15-DDEB-BC94FB231BC3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995516-B3EE-0C11-DE4C-2D2CADE5C29E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234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91877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039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224215-D747-4DDE-EDF4-7B09BEDE2A03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00508DE-EC9B-4BD0-8DF6-A34963F8D0B7}" type="datetimeFigureOut">
              <a:rPr lang="en-US" altLang="zh-CN"/>
              <a:t>10/8/2026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10" Type="http://schemas.openxmlformats.org/officeDocument/2006/relationships/tags" Target="../tags/tag25.xml"/><Relationship Id="rId19" Type="http://schemas.openxmlformats.org/officeDocument/2006/relationships/image" Target="../media/image11.tmp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10" Type="http://schemas.openxmlformats.org/officeDocument/2006/relationships/tags" Target="../tags/tag51.xml"/><Relationship Id="rId19" Type="http://schemas.openxmlformats.org/officeDocument/2006/relationships/image" Target="../media/image11.tmp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/>
              <a:t>无代码零基础软件制作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4348408"/>
            <a:ext cx="9144000" cy="1655762"/>
          </a:xfrm>
        </p:spPr>
        <p:txBody>
          <a:bodyPr/>
          <a:lstStyle/>
          <a:p>
            <a:pPr>
              <a:defRPr/>
            </a:pPr>
            <a:r>
              <a:rPr lang="zh-CN"/>
              <a:t>袁洋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 bwMode="auto">
          <a:xfrm>
            <a:off x="838200" y="1872518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/>
              <a:t>val i=1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 match</a:t>
            </a:r>
            <a:endParaRPr/>
          </a:p>
          <a:p>
            <a:pPr marL="0" indent="0">
              <a:buNone/>
              <a:defRPr/>
            </a:pPr>
            <a:r>
              <a:rPr lang="en-US"/>
              <a:t>     case 1 =&gt; println(“one”)</a:t>
            </a:r>
            <a:endParaRPr/>
          </a:p>
          <a:p>
            <a:pPr marL="0" indent="0">
              <a:buNone/>
              <a:defRPr/>
            </a:pPr>
            <a:r>
              <a:rPr lang="en-US"/>
              <a:t>     case 2 =&gt; println(“two”)</a:t>
            </a:r>
            <a:endParaRPr/>
          </a:p>
          <a:p>
            <a:pPr marL="0" indent="0">
              <a:buNone/>
              <a:defRPr/>
            </a:pPr>
            <a:r>
              <a:rPr lang="en-US"/>
              <a:t>     case _ =&gt; println(“other”) </a:t>
            </a:r>
            <a:endParaRPr/>
          </a:p>
          <a:p>
            <a:pPr marL="0" indent="0">
              <a:buNone/>
              <a:defRPr/>
            </a:pPr>
            <a:r>
              <a:rPr lang="en-US"/>
              <a:t>	</a:t>
            </a:r>
            <a:endParaRPr/>
          </a:p>
          <a:p>
            <a:pPr marL="0" indent="0">
              <a:buNone/>
              <a:defRPr/>
            </a:pPr>
            <a:r>
              <a:rPr lang="en-US"/>
              <a:t>Scala</a:t>
            </a:r>
            <a:r>
              <a:rPr lang="zh-CN"/>
              <a:t>中有各种各样的模式匹配</a:t>
            </a:r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模式匹配</a:t>
            </a:r>
            <a:endParaRPr/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try, catch, finally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4473191"/>
            <a:ext cx="10515600" cy="1703772"/>
          </a:xfrm>
        </p:spPr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和</a:t>
            </a:r>
            <a:r>
              <a:rPr lang="en-US"/>
              <a:t>Java</a:t>
            </a:r>
            <a:r>
              <a:rPr lang="zh-CN"/>
              <a:t>是类似的，但是不是类型安全的</a:t>
            </a:r>
            <a:endParaRPr lang="en-US"/>
          </a:p>
          <a:p>
            <a:pPr>
              <a:defRPr/>
            </a:pPr>
            <a:r>
              <a:rPr lang="zh-CN"/>
              <a:t>我们课程不使用</a:t>
            </a:r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42176" y="1851523"/>
            <a:ext cx="10972698" cy="24608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Option[T]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5475111"/>
            <a:ext cx="10515600" cy="1122696"/>
          </a:xfrm>
        </p:spPr>
        <p:txBody>
          <a:bodyPr/>
          <a:lstStyle/>
          <a:p>
            <a:pPr>
              <a:defRPr/>
            </a:pPr>
            <a:r>
              <a:rPr lang="en-US"/>
              <a:t>Some(value) vs None, </a:t>
            </a:r>
            <a:r>
              <a:rPr lang="zh-CN"/>
              <a:t>一个包含</a:t>
            </a:r>
            <a:r>
              <a:rPr lang="en-US"/>
              <a:t>1</a:t>
            </a:r>
            <a:r>
              <a:rPr lang="zh-CN"/>
              <a:t>个元素或者空的快递箱</a:t>
            </a:r>
            <a:endParaRPr lang="en-US"/>
          </a:p>
          <a:p>
            <a:pPr>
              <a:defRPr/>
            </a:pPr>
            <a:r>
              <a:rPr lang="zh-CN"/>
              <a:t>可以和</a:t>
            </a:r>
            <a:r>
              <a:rPr lang="en-US"/>
              <a:t>map/flatMap/forEach</a:t>
            </a:r>
            <a:r>
              <a:rPr lang="zh-CN"/>
              <a:t>一起用</a:t>
            </a:r>
            <a:endParaRPr lang="en-US"/>
          </a:p>
          <a:p>
            <a:pPr>
              <a:defRPr/>
            </a:pPr>
            <a:endParaRPr 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38200" y="1665288"/>
            <a:ext cx="7741356" cy="363235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Try[T]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747889" y="5977041"/>
            <a:ext cx="10515600" cy="66951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/>
              <a:t>一个快递盒子，包含输入，或者失败的信息</a:t>
            </a:r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47889" y="1690688"/>
            <a:ext cx="5822244" cy="12716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47889" y="2839555"/>
            <a:ext cx="5947809" cy="26581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object </a:t>
            </a:r>
            <a:r>
              <a:rPr lang="zh-CN"/>
              <a:t>（这里的</a:t>
            </a:r>
            <a:r>
              <a:rPr lang="en-US"/>
              <a:t>object</a:t>
            </a:r>
            <a:r>
              <a:rPr lang="zh-CN"/>
              <a:t>不是之后说的对象）</a:t>
            </a:r>
            <a:endParaRPr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38200" y="1767251"/>
            <a:ext cx="6524625" cy="45815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Object</a:t>
            </a:r>
            <a:r>
              <a:rPr lang="zh-CN" dirty="0"/>
              <a:t>和</a:t>
            </a:r>
            <a:r>
              <a:rPr lang="en-US" dirty="0"/>
              <a:t>Class</a:t>
            </a:r>
            <a:r>
              <a:rPr lang="zh-CN" altLang="en-US" dirty="0"/>
              <a:t>（类）</a:t>
            </a:r>
            <a:r>
              <a:rPr lang="zh-CN" dirty="0"/>
              <a:t>的区别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/>
              <a:t>object</a:t>
            </a:r>
            <a:r>
              <a:rPr lang="zh-CN" dirty="0"/>
              <a:t>是单例（全局只有一个，比如乐山大佛下面的许愿箱）</a:t>
            </a:r>
            <a:endParaRPr lang="en-US" dirty="0"/>
          </a:p>
          <a:p>
            <a:pPr>
              <a:defRPr/>
            </a:pPr>
            <a:r>
              <a:rPr lang="zh-CN" dirty="0"/>
              <a:t>类是一个模板</a:t>
            </a:r>
            <a:r>
              <a:rPr lang="en-US" dirty="0"/>
              <a:t> (</a:t>
            </a:r>
            <a:r>
              <a:rPr lang="zh-CN" dirty="0"/>
              <a:t>可以批量生成</a:t>
            </a:r>
            <a:r>
              <a:rPr lang="en-US" altLang="zh-CN" dirty="0"/>
              <a:t>class</a:t>
            </a:r>
            <a:r>
              <a:rPr lang="zh-CN" dirty="0"/>
              <a:t>，比如可乐瓶</a:t>
            </a:r>
            <a:r>
              <a:rPr lang="en-US" dirty="0"/>
              <a:t>)</a:t>
            </a:r>
            <a:endParaRPr dirty="0"/>
          </a:p>
          <a:p>
            <a:pPr>
              <a:defRPr/>
            </a:pPr>
            <a:r>
              <a:rPr lang="zh-CN" dirty="0"/>
              <a:t>程序的</a:t>
            </a:r>
            <a:r>
              <a:rPr lang="en-US" dirty="0"/>
              <a:t>main</a:t>
            </a:r>
            <a:r>
              <a:rPr lang="zh-CN" dirty="0"/>
              <a:t>入口定义在</a:t>
            </a:r>
            <a:r>
              <a:rPr lang="en-US" dirty="0"/>
              <a:t>object:</a:t>
            </a:r>
            <a:endParaRPr dirty="0"/>
          </a:p>
          <a:p>
            <a:pPr lvl="1">
              <a:defRPr/>
            </a:pPr>
            <a:r>
              <a:rPr lang="en-US" dirty="0" err="1"/>
              <a:t>args</a:t>
            </a:r>
            <a:r>
              <a:rPr lang="zh-CN" dirty="0"/>
              <a:t>：输入参数</a:t>
            </a:r>
            <a:endParaRPr lang="en-US" dirty="0"/>
          </a:p>
          <a:p>
            <a:pPr lvl="1">
              <a:defRPr/>
            </a:pPr>
            <a:r>
              <a:rPr lang="en-US" dirty="0"/>
              <a:t>def: </a:t>
            </a:r>
            <a:r>
              <a:rPr lang="zh-CN" dirty="0"/>
              <a:t>入口是一个函数</a:t>
            </a:r>
            <a:endParaRPr lang="en-US" dirty="0"/>
          </a:p>
          <a:p>
            <a:pPr lvl="1">
              <a:defRPr/>
            </a:pPr>
            <a:r>
              <a:rPr lang="en-US" dirty="0"/>
              <a:t>main: </a:t>
            </a:r>
            <a:r>
              <a:rPr lang="zh-CN" dirty="0"/>
              <a:t>特殊的名字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202675" y="4575686"/>
            <a:ext cx="5411703" cy="20707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87CAA-42A5-B354-A0B9-23AD3079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 class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3EC87-97B0-963F-F3CC-CADBF67B9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F713F4-9D72-FAF8-D486-A339E49AA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436738" cy="15252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0449FE-0722-126A-550D-C7CB817CF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87" y="3808336"/>
            <a:ext cx="11122559" cy="17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28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枚举类型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枚举性质的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也可以有输入参数</a:t>
            </a:r>
            <a:endParaRPr lang="en-US"/>
          </a:p>
          <a:p>
            <a:pPr>
              <a:defRPr/>
            </a:pPr>
            <a:endParaRPr 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198433" y="1592875"/>
            <a:ext cx="4419462" cy="15090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198433" y="4189356"/>
            <a:ext cx="5296693" cy="180018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Trait</a:t>
            </a:r>
            <a:r>
              <a:rPr lang="zh-CN"/>
              <a:t>（性质）</a:t>
            </a:r>
            <a:r>
              <a:rPr lang="en-US"/>
              <a:t>, class, abstract class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Abstract class: </a:t>
            </a:r>
            <a:r>
              <a:rPr lang="zh-CN"/>
              <a:t>抽象类，不需要实例化 （例如：动物）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case class: </a:t>
            </a:r>
            <a:r>
              <a:rPr lang="zh-CN"/>
              <a:t>一种方便使用的</a:t>
            </a:r>
            <a:r>
              <a:rPr lang="en-US"/>
              <a:t>class</a:t>
            </a:r>
            <a:r>
              <a:rPr lang="zh-CN"/>
              <a:t>，我们一般都用这个</a:t>
            </a:r>
            <a:endParaRPr lang="en-US"/>
          </a:p>
          <a:p>
            <a:pPr marL="457200" lvl="1" indent="0">
              <a:buNone/>
              <a:defRPr/>
            </a:pPr>
            <a:endParaRPr lang="en-US"/>
          </a:p>
          <a:p>
            <a:pPr>
              <a:defRPr/>
            </a:pPr>
            <a:r>
              <a:rPr lang="en-US"/>
              <a:t>Trait: </a:t>
            </a:r>
            <a:r>
              <a:rPr lang="zh-CN"/>
              <a:t>表达一些好的特性、能力</a:t>
            </a:r>
            <a:endParaRPr lang="en-US"/>
          </a:p>
          <a:p>
            <a:pPr lvl="1">
              <a:defRPr/>
            </a:pPr>
            <a:r>
              <a:rPr lang="zh-CN"/>
              <a:t>例如 吃饭的能力</a:t>
            </a:r>
            <a:r>
              <a:rPr lang="en-US"/>
              <a:t>(eat)</a:t>
            </a:r>
            <a:r>
              <a:rPr lang="zh-CN"/>
              <a:t>，走路的能力</a:t>
            </a:r>
            <a:r>
              <a:rPr lang="en-US"/>
              <a:t>(walk)</a:t>
            </a:r>
            <a:r>
              <a:rPr lang="zh-CN"/>
              <a:t>，繁殖的能力</a:t>
            </a:r>
            <a:r>
              <a:rPr lang="en-US"/>
              <a:t>(reproduce)</a:t>
            </a:r>
            <a:endParaRPr/>
          </a:p>
          <a:p>
            <a:pPr lvl="1">
              <a:defRPr/>
            </a:pPr>
            <a:r>
              <a:rPr lang="zh-CN"/>
              <a:t>动物上面三种能力都有，</a:t>
            </a:r>
            <a:r>
              <a:rPr lang="en-US"/>
              <a:t>animal extends eat,</a:t>
            </a:r>
            <a:r>
              <a:rPr lang="zh-CN"/>
              <a:t> </a:t>
            </a:r>
            <a:r>
              <a:rPr lang="en-US"/>
              <a:t>walk, reproduce</a:t>
            </a:r>
            <a:endParaRPr/>
          </a:p>
          <a:p>
            <a:pPr lvl="1">
              <a:defRPr/>
            </a:pPr>
            <a:r>
              <a:rPr lang="zh-CN"/>
              <a:t>但是植物只有第三种，所以</a:t>
            </a:r>
            <a:r>
              <a:rPr lang="en-US"/>
              <a:t> plant extends reproduce</a:t>
            </a:r>
            <a:endParaRPr/>
          </a:p>
          <a:p>
            <a:pPr>
              <a:defRPr/>
            </a:pPr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应该如何设计系统中的对象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zh-CN"/>
              <a:t>这里的对象是</a:t>
            </a:r>
            <a:r>
              <a:rPr lang="en-US"/>
              <a:t>case class</a:t>
            </a:r>
            <a:r>
              <a:rPr lang="zh-CN"/>
              <a:t>，而不是</a:t>
            </a:r>
            <a:r>
              <a:rPr lang="en-US"/>
              <a:t>object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找到系统中最根本的元素</a:t>
            </a:r>
            <a:endParaRPr lang="en-US"/>
          </a:p>
          <a:p>
            <a:pPr lvl="1">
              <a:defRPr/>
            </a:pPr>
            <a:r>
              <a:rPr lang="zh-CN"/>
              <a:t>大学里：学生、老师、教室、课程等等</a:t>
            </a:r>
            <a:endParaRPr lang="en-US"/>
          </a:p>
          <a:p>
            <a:pPr lvl="1">
              <a:defRPr/>
            </a:pPr>
            <a:r>
              <a:rPr lang="zh-CN"/>
              <a:t>租车系统：车、顾客、门店等等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使用基础的类型来构建其他类型</a:t>
            </a:r>
            <a:endParaRPr lang="en-US"/>
          </a:p>
          <a:p>
            <a:pPr lvl="1">
              <a:defRPr/>
            </a:pPr>
            <a:r>
              <a:rPr lang="zh-CN"/>
              <a:t>一节课包含：学生、老师、教室、课程等等</a:t>
            </a:r>
            <a:endParaRPr lang="en-US"/>
          </a:p>
          <a:p>
            <a:pPr lvl="1">
              <a:defRPr/>
            </a:pPr>
            <a:r>
              <a:rPr lang="zh-CN"/>
              <a:t>一个租车订单包括：车、顾客、订单时间、门店、价格等等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不要使用基础类型！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zh-CN"/>
              <a:t>函数式编程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函数式编程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 bwMode="auto"/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  <a:defRPr/>
                </a:pPr>
                <a:r>
                  <a:rPr lang="zh-CN" sz="3200"/>
                  <a:t>函数式编程考虑纯函数：</a:t>
                </a:r>
                <a:endParaRPr lang="en-US" sz="3200"/>
              </a:p>
              <a:p>
                <a:pPr lvl="1">
                  <a:spcAft>
                    <a:spcPts val="600"/>
                  </a:spcAft>
                  <a:defRPr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𝑦</m:t>
                    </m:r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2800"/>
              </a:p>
              <a:p>
                <a:pPr>
                  <a:defRPr/>
                </a:pPr>
                <a:r>
                  <a:rPr lang="zh-CN"/>
                  <a:t>没有副作用</a:t>
                </a:r>
                <a:endParaRPr/>
              </a:p>
              <a:p>
                <a:pPr lvl="1">
                  <a:defRPr/>
                </a:pPr>
                <a:r>
                  <a:rPr lang="en-US"/>
                  <a:t>y </a:t>
                </a:r>
                <a:r>
                  <a:rPr lang="zh-CN"/>
                  <a:t>只依赖</a:t>
                </a:r>
                <a:r>
                  <a:rPr lang="en-US"/>
                  <a:t>x, </a:t>
                </a:r>
                <a:r>
                  <a:rPr lang="zh-CN"/>
                  <a:t>不依赖其他东西</a:t>
                </a:r>
                <a:endParaRPr/>
              </a:p>
              <a:p>
                <a:pPr lvl="1">
                  <a:defRPr/>
                </a:pPr>
                <a:r>
                  <a:rPr lang="zh-CN"/>
                  <a:t>关系是确定性的：运行</a:t>
                </a:r>
                <a:r>
                  <a:rPr lang="en-US"/>
                  <a:t>100</a:t>
                </a:r>
                <a:r>
                  <a:rPr lang="zh-CN"/>
                  <a:t>次，结果都一样</a:t>
                </a:r>
                <a:endParaRPr/>
              </a:p>
              <a:p>
                <a:pPr lvl="1">
                  <a:defRPr/>
                </a:pPr>
                <a:r>
                  <a:rPr lang="zh-CN"/>
                  <a:t>对世界没有任何副作用。算一下𝑓</a:t>
                </a:r>
                <a:r>
                  <a:rPr lang="en-US"/>
                  <a:t>(</a:t>
                </a:r>
                <a:r>
                  <a:rPr lang="zh-CN"/>
                  <a:t>𝑥</a:t>
                </a:r>
                <a:r>
                  <a:rPr lang="en-US"/>
                  <a:t>)</a:t>
                </a:r>
                <a:r>
                  <a:rPr lang="zh-CN"/>
                  <a:t>得到 </a:t>
                </a:r>
                <a:r>
                  <a:rPr lang="en-US"/>
                  <a:t>y</a:t>
                </a:r>
                <a:r>
                  <a:rPr lang="zh-CN"/>
                  <a:t>，不影响任何事</a:t>
                </a:r>
                <a:endParaRPr/>
              </a:p>
              <a:p>
                <a:pPr>
                  <a:defRPr/>
                </a:pPr>
                <a:r>
                  <a:rPr lang="zh-CN"/>
                  <a:t>什么是副作用？</a:t>
                </a:r>
                <a:endParaRPr/>
              </a:p>
              <a:p>
                <a:pPr lvl="1">
                  <a:defRPr/>
                </a:pPr>
                <a:r>
                  <a:rPr lang="zh-CN"/>
                  <a:t>读写数据、人机交互、网络通信等等</a:t>
                </a:r>
                <a:endParaRPr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blipFill>
                <a:blip r:embed="rId4"/>
                <a:stretch>
                  <a:fillRect l="-1333" t="-3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如果副作用是必须的呢？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推到边缘去！</a:t>
            </a:r>
            <a:endParaRPr/>
          </a:p>
          <a:p>
            <a:pPr lvl="1">
              <a:defRPr/>
            </a:pPr>
            <a:r>
              <a:rPr lang="zh-CN"/>
              <a:t>在核心处只做纯函数（没有副作用）</a:t>
            </a:r>
            <a:endParaRPr/>
          </a:p>
          <a:p>
            <a:pPr lvl="2">
              <a:defRPr/>
            </a:pPr>
            <a:r>
              <a:rPr lang="zh-CN"/>
              <a:t>加减乘除，类型变化处理</a:t>
            </a:r>
            <a:endParaRPr/>
          </a:p>
          <a:p>
            <a:pPr lvl="1">
              <a:defRPr/>
            </a:pPr>
            <a:r>
              <a:rPr lang="zh-CN"/>
              <a:t>在边缘处做其他任务 </a:t>
            </a:r>
            <a:r>
              <a:rPr lang="en-US"/>
              <a:t>(</a:t>
            </a:r>
            <a:r>
              <a:rPr lang="zh-CN"/>
              <a:t>有副作用</a:t>
            </a:r>
            <a:r>
              <a:rPr lang="en-US"/>
              <a:t>)</a:t>
            </a:r>
            <a:endParaRPr/>
          </a:p>
          <a:p>
            <a:pPr lvl="2">
              <a:defRPr/>
            </a:pPr>
            <a:r>
              <a:rPr lang="zh-CN"/>
              <a:t>读写数据库、服务器通信等等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至少我们对核心内容有很好的掌控</a:t>
            </a:r>
            <a:endParaRPr/>
          </a:p>
          <a:p>
            <a:pPr>
              <a:defRPr/>
            </a:pPr>
            <a:endParaRPr 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与面向对象的对比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面向对象负责如何定义对象</a:t>
            </a:r>
            <a:endParaRPr lang="en-US"/>
          </a:p>
          <a:p>
            <a:pPr lvl="1">
              <a:defRPr/>
            </a:pPr>
            <a:r>
              <a:rPr lang="zh-CN"/>
              <a:t>如果对象简单，把它做成一个基础类型</a:t>
            </a:r>
            <a:endParaRPr lang="en-US"/>
          </a:p>
          <a:p>
            <a:pPr lvl="1">
              <a:defRPr/>
            </a:pPr>
            <a:r>
              <a:rPr lang="zh-CN"/>
              <a:t>如果对象复杂，把它做成一个复合类型</a:t>
            </a:r>
            <a:endParaRPr lang="en-US"/>
          </a:p>
          <a:p>
            <a:pPr>
              <a:defRPr/>
            </a:pPr>
            <a:r>
              <a:rPr lang="zh-CN"/>
              <a:t>函数式编程负责如何处理数据</a:t>
            </a:r>
            <a:endParaRPr lang="en-US"/>
          </a:p>
          <a:p>
            <a:pPr lvl="1">
              <a:defRPr/>
            </a:pPr>
            <a:r>
              <a:rPr lang="zh-CN"/>
              <a:t>输入：</a:t>
            </a:r>
            <a:r>
              <a:rPr lang="en-US"/>
              <a:t>XXX</a:t>
            </a:r>
            <a:r>
              <a:rPr lang="zh-CN"/>
              <a:t>数据类型</a:t>
            </a:r>
            <a:endParaRPr lang="en-US"/>
          </a:p>
          <a:p>
            <a:pPr lvl="1">
              <a:defRPr/>
            </a:pPr>
            <a:r>
              <a:rPr lang="zh-CN"/>
              <a:t>输出：</a:t>
            </a:r>
            <a:r>
              <a:rPr lang="en-US"/>
              <a:t>XXX</a:t>
            </a:r>
            <a:r>
              <a:rPr lang="zh-CN"/>
              <a:t>数据类型</a:t>
            </a:r>
            <a:endParaRPr lang="en-US"/>
          </a:p>
          <a:p>
            <a:pPr lvl="1">
              <a:defRPr/>
            </a:pPr>
            <a:endParaRPr lang="en-US"/>
          </a:p>
          <a:p>
            <a:pPr>
              <a:defRPr/>
            </a:pPr>
            <a:r>
              <a:rPr lang="zh-CN"/>
              <a:t>这两种范式本质可以是垂直互补的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C568-F1C0-32FE-6DEB-EB48DD99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B2F767F-6487-3CF7-BE94-841C29E325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签到：黑板上写的是什么？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32E22B-111F-C3D1-A489-171A50D03D2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E3913E-03B8-E20A-07CF-F094E2324CC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5ED83E7-5A3C-94D0-105F-606C3374602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0CE9D4-75DD-5355-7ADA-462CBCE6D9E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F356EAA-EBF8-1277-D411-80FA08D4524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8E73A5-9BF5-3D41-61C5-6708DA856E4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3E37FC9-2874-4282-425B-1AE603DC8B2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74F73D-0BFF-9751-497A-9E7AA9C06CD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F69D3EA-F47A-B555-E122-DA45C572A362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481434F-5356-A2B5-1199-0B20A325C39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22F3CA7-7164-62D0-01D2-A3D6363B3C1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D2FE1E9-1F86-B47F-4E2B-F3678D9062D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AA675ED-0CB1-D217-4D2D-162ECE74608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" name="TipText">
              <a:extLst>
                <a:ext uri="{FF2B5EF4-FFF2-40B4-BE49-F238E27FC236}">
                  <a16:creationId xmlns:a16="http://schemas.microsoft.com/office/drawing/2014/main" id="{602F479B-4018-493E-36D9-8CBBA797B3F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E664EEF-EA20-63BD-A79F-16356209AE3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32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Monad</a:t>
            </a:r>
            <a:r>
              <a:rPr lang="zh-CN"/>
              <a:t>（单子）</a:t>
            </a:r>
            <a:r>
              <a:rPr lang="en-US"/>
              <a:t>: </a:t>
            </a:r>
            <a:r>
              <a:rPr lang="zh-CN"/>
              <a:t>如何处理副作用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/>
              <a:t>把副作用装进盒子里（薛定谔的猫）</a:t>
            </a:r>
            <a:endParaRPr/>
          </a:p>
          <a:p>
            <a:pPr lvl="1">
              <a:defRPr/>
            </a:pPr>
            <a:r>
              <a:rPr lang="zh-CN"/>
              <a:t>性质</a:t>
            </a:r>
            <a:r>
              <a:rPr lang="en-US"/>
              <a:t>1</a:t>
            </a:r>
            <a:r>
              <a:rPr lang="zh-CN"/>
              <a:t>：副作用会发生，当且仅当盒子被打开</a:t>
            </a:r>
            <a:endParaRPr/>
          </a:p>
          <a:p>
            <a:pPr lvl="1">
              <a:defRPr/>
            </a:pPr>
            <a:r>
              <a:rPr lang="zh-CN"/>
              <a:t>性质</a:t>
            </a:r>
            <a:r>
              <a:rPr lang="en-US"/>
              <a:t>2</a:t>
            </a:r>
            <a:r>
              <a:rPr lang="zh-CN"/>
              <a:t>：一个盒子可以和另一个盒子粘在一起  成了一个新盒子</a:t>
            </a:r>
            <a:endParaRPr/>
          </a:p>
          <a:p>
            <a:pPr>
              <a:defRPr/>
            </a:pPr>
            <a:r>
              <a:rPr lang="zh-CN"/>
              <a:t>性质</a:t>
            </a:r>
            <a:r>
              <a:rPr lang="en-US"/>
              <a:t>1</a:t>
            </a:r>
            <a:r>
              <a:rPr lang="zh-CN"/>
              <a:t>：假装盒子里的副作用不存在</a:t>
            </a:r>
            <a:endParaRPr/>
          </a:p>
          <a:p>
            <a:pPr>
              <a:defRPr/>
            </a:pPr>
            <a:r>
              <a:rPr lang="zh-CN"/>
              <a:t>对于任何副作用，把它装进盒子</a:t>
            </a:r>
            <a:endParaRPr/>
          </a:p>
          <a:p>
            <a:pPr lvl="1">
              <a:defRPr/>
            </a:pPr>
            <a:r>
              <a:rPr lang="zh-CN"/>
              <a:t>对自己说：它不存在，因为它在盒子里</a:t>
            </a:r>
            <a:endParaRPr/>
          </a:p>
          <a:p>
            <a:pPr lvl="1">
              <a:defRPr/>
            </a:pPr>
            <a:r>
              <a:rPr lang="zh-CN"/>
              <a:t>继续干别的事情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只要盒子不打开，副作用就没有作用</a:t>
            </a:r>
            <a:endParaRPr/>
          </a:p>
          <a:p>
            <a:pPr>
              <a:defRPr/>
            </a:pPr>
            <a:endParaRPr 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单子处理副作用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/>
              <a:t>例如</a:t>
            </a:r>
            <a:r>
              <a:rPr lang="en-US"/>
              <a:t>:</a:t>
            </a:r>
            <a:endParaRPr/>
          </a:p>
          <a:p>
            <a:pPr lvl="1">
              <a:defRPr/>
            </a:pPr>
            <a:r>
              <a:rPr lang="en-US"/>
              <a:t>f(x)=Println(x+65)          </a:t>
            </a:r>
            <a:r>
              <a:rPr lang="zh-CN"/>
              <a:t>打印到屏幕，有副作用</a:t>
            </a:r>
            <a:endParaRPr/>
          </a:p>
          <a:p>
            <a:pPr lvl="1">
              <a:defRPr/>
            </a:pPr>
            <a:r>
              <a:rPr lang="en-US"/>
              <a:t>f(x)=IO(Println(x+65))      </a:t>
            </a:r>
            <a:r>
              <a:rPr lang="zh-CN"/>
              <a:t>没有副作用，被装进了一个叫</a:t>
            </a:r>
            <a:r>
              <a:rPr lang="en-US"/>
              <a:t>IO</a:t>
            </a:r>
            <a:r>
              <a:rPr lang="zh-CN"/>
              <a:t>的盒子里</a:t>
            </a:r>
            <a:endParaRPr/>
          </a:p>
          <a:p>
            <a:pPr>
              <a:defRPr/>
            </a:pPr>
            <a:r>
              <a:rPr lang="zh-CN"/>
              <a:t>算好</a:t>
            </a:r>
            <a:r>
              <a:rPr lang="en-US"/>
              <a:t>f(x)</a:t>
            </a:r>
            <a:r>
              <a:rPr lang="zh-CN"/>
              <a:t>后</a:t>
            </a:r>
            <a:r>
              <a:rPr lang="en-US"/>
              <a:t>, </a:t>
            </a:r>
            <a:r>
              <a:rPr lang="zh-CN"/>
              <a:t>我们可以打开</a:t>
            </a:r>
            <a:r>
              <a:rPr lang="en-US"/>
              <a:t>IO</a:t>
            </a:r>
            <a:r>
              <a:rPr lang="zh-CN"/>
              <a:t>盒子，它就有副作用了</a:t>
            </a:r>
            <a:endParaRPr/>
          </a:p>
          <a:p>
            <a:pPr lvl="1">
              <a:defRPr/>
            </a:pPr>
            <a:r>
              <a:rPr lang="zh-CN"/>
              <a:t>会真的打印 </a:t>
            </a:r>
            <a:r>
              <a:rPr lang="en-US"/>
              <a:t>x+65 </a:t>
            </a:r>
            <a:r>
              <a:rPr lang="zh-CN"/>
              <a:t>到屏幕</a:t>
            </a:r>
            <a:endParaRPr/>
          </a:p>
          <a:p>
            <a:pPr>
              <a:defRPr/>
            </a:pPr>
            <a:r>
              <a:rPr lang="zh-CN"/>
              <a:t>这就是“推到边缘”的意思</a:t>
            </a:r>
            <a:endParaRPr/>
          </a:p>
          <a:p>
            <a:pPr lvl="1">
              <a:defRPr/>
            </a:pPr>
            <a:r>
              <a:rPr lang="zh-CN"/>
              <a:t>定义与计算 </a:t>
            </a:r>
            <a:r>
              <a:rPr lang="en-US"/>
              <a:t>f(x) </a:t>
            </a:r>
            <a:r>
              <a:rPr lang="zh-CN"/>
              <a:t>都是纯函数的，纯的</a:t>
            </a:r>
            <a:endParaRPr/>
          </a:p>
          <a:p>
            <a:pPr lvl="1">
              <a:defRPr/>
            </a:pPr>
            <a:r>
              <a:rPr lang="zh-CN"/>
              <a:t>打开 </a:t>
            </a:r>
            <a:r>
              <a:rPr lang="en-US"/>
              <a:t>f(x) </a:t>
            </a:r>
            <a:r>
              <a:rPr lang="zh-CN"/>
              <a:t>这个盒子有副作用，脏的</a:t>
            </a:r>
            <a:endParaRPr/>
          </a:p>
          <a:p>
            <a:pPr>
              <a:defRPr/>
            </a:pPr>
            <a:r>
              <a:rPr lang="zh-CN"/>
              <a:t>但是，这个有什么用？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把两个盒子粘起来！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Scala</a:t>
            </a:r>
            <a:r>
              <a:rPr lang="zh-CN"/>
              <a:t>就是</a:t>
            </a:r>
            <a:r>
              <a:rPr lang="en-US"/>
              <a:t>flatMap</a:t>
            </a:r>
          </a:p>
          <a:p>
            <a:pPr lvl="1">
              <a:defRPr/>
            </a:pPr>
            <a:r>
              <a:rPr lang="en-US"/>
              <a:t>flatMap= flatten + map</a:t>
            </a:r>
            <a:endParaRPr/>
          </a:p>
          <a:p>
            <a:pPr lvl="1">
              <a:defRPr/>
            </a:pPr>
            <a:r>
              <a:rPr lang="zh-CN"/>
              <a:t>先假设我们会打开第一个盒子</a:t>
            </a:r>
            <a:r>
              <a:rPr lang="en-US"/>
              <a:t>(flatten), </a:t>
            </a:r>
            <a:r>
              <a:rPr lang="zh-CN"/>
              <a:t>取到了它的值，然后做一些处理（</a:t>
            </a:r>
            <a:r>
              <a:rPr lang="en-US"/>
              <a:t>map</a:t>
            </a:r>
            <a:r>
              <a:rPr lang="zh-CN"/>
              <a:t>），得到另一个值，放到新的盒子</a:t>
            </a:r>
            <a:endParaRPr lang="en-US"/>
          </a:p>
          <a:p>
            <a:pPr>
              <a:defRPr/>
            </a:pPr>
            <a:r>
              <a:rPr lang="zh-CN"/>
              <a:t>这是一个（纯粹的）计划！</a:t>
            </a:r>
            <a:endParaRPr lang="en-US"/>
          </a:p>
          <a:p>
            <a:pPr lvl="1">
              <a:defRPr/>
            </a:pPr>
            <a:r>
              <a:rPr lang="zh-CN"/>
              <a:t>我们</a:t>
            </a:r>
            <a:r>
              <a:rPr lang="zh-CN" b="1"/>
              <a:t>计划</a:t>
            </a:r>
            <a:r>
              <a:rPr lang="en-US"/>
              <a:t> “</a:t>
            </a:r>
            <a:r>
              <a:rPr lang="zh-CN"/>
              <a:t>先打开盒子，取值，运算后放到另一个盒子中</a:t>
            </a:r>
            <a:r>
              <a:rPr lang="en-US"/>
              <a:t>”</a:t>
            </a:r>
            <a:endParaRPr/>
          </a:p>
          <a:p>
            <a:pPr lvl="1">
              <a:defRPr/>
            </a:pPr>
            <a:r>
              <a:rPr lang="zh-CN"/>
              <a:t>没有真的实现，所以没有任何效果！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/>
              <a:t>非常理想的把两个可能有副作用的东西连起来的方式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举个例子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zh-CN"/>
              <a:t>如果我们想要做</a:t>
            </a:r>
            <a:r>
              <a:rPr lang="en-US"/>
              <a:t>:</a:t>
            </a:r>
            <a:endParaRPr/>
          </a:p>
          <a:p>
            <a:pPr lvl="1">
              <a:defRPr/>
            </a:pPr>
            <a:r>
              <a:rPr lang="zh-CN"/>
              <a:t>从屏幕中读入字符串</a:t>
            </a:r>
            <a:r>
              <a:rPr lang="en-US"/>
              <a:t>A</a:t>
            </a:r>
            <a:endParaRPr/>
          </a:p>
          <a:p>
            <a:pPr lvl="1">
              <a:defRPr/>
            </a:pPr>
            <a:r>
              <a:rPr lang="zh-CN"/>
              <a:t>从数据库中读入字符串</a:t>
            </a:r>
            <a:r>
              <a:rPr lang="en-US"/>
              <a:t>B</a:t>
            </a:r>
            <a:endParaRPr/>
          </a:p>
          <a:p>
            <a:pPr lvl="1">
              <a:defRPr/>
            </a:pPr>
            <a:r>
              <a:rPr lang="zh-CN"/>
              <a:t>打印</a:t>
            </a:r>
            <a:r>
              <a:rPr lang="en-US"/>
              <a:t>A+B</a:t>
            </a:r>
            <a:r>
              <a:rPr lang="zh-CN"/>
              <a:t>到屏幕</a:t>
            </a:r>
            <a:endParaRPr/>
          </a:p>
          <a:p>
            <a:pPr>
              <a:defRPr/>
            </a:pPr>
            <a:r>
              <a:rPr lang="zh-CN"/>
              <a:t>所有的步骤都是脏的，需要装到盒子里</a:t>
            </a:r>
            <a:endParaRPr/>
          </a:p>
          <a:p>
            <a:pPr>
              <a:defRPr/>
            </a:pPr>
            <a:r>
              <a:rPr lang="zh-CN"/>
              <a:t>但是，最后一步依赖前两步的结果，怎么办？</a:t>
            </a:r>
            <a:r>
              <a:rPr lang="zh-CN" b="1">
                <a:solidFill>
                  <a:srgbClr val="FF0000"/>
                </a:solidFill>
              </a:rPr>
              <a:t>性质</a:t>
            </a: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zh-CN" b="1">
                <a:solidFill>
                  <a:srgbClr val="FF0000"/>
                </a:solidFill>
              </a:rPr>
              <a:t>：粘起来！！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IO(readScreen()).flatMap(</a:t>
            </a:r>
            <a:endParaRPr/>
          </a:p>
          <a:p>
            <a:pPr marL="914400" lvl="2" indent="0">
              <a:buNone/>
              <a:defRPr/>
            </a:pPr>
            <a:r>
              <a:rPr lang="en-US"/>
              <a:t>A=&gt; IO((A, readDB()))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).flatMap( </a:t>
            </a:r>
            <a:endParaRPr/>
          </a:p>
          <a:p>
            <a:pPr marL="914400" lvl="2" indent="0">
              <a:buNone/>
              <a:defRPr/>
            </a:pPr>
            <a:r>
              <a:rPr lang="en-US"/>
              <a:t>(A,B)=&gt; IO(print(A+"-"+B))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)</a:t>
            </a:r>
            <a:endParaRPr/>
          </a:p>
          <a:p>
            <a:pPr>
              <a:defRPr/>
            </a:pPr>
            <a:r>
              <a:rPr lang="zh-CN"/>
              <a:t>一个巨大的</a:t>
            </a:r>
            <a:r>
              <a:rPr lang="en-US"/>
              <a:t>IO</a:t>
            </a:r>
            <a:r>
              <a:rPr lang="zh-CN"/>
              <a:t>盒子！但是仍然是计划，没有副作用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更好的例子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/>
              <a:t>假如有两个学生在上课</a:t>
            </a:r>
            <a:endParaRPr/>
          </a:p>
          <a:p>
            <a:pPr lvl="1">
              <a:defRPr/>
            </a:pPr>
            <a:r>
              <a:rPr lang="zh-CN"/>
              <a:t>他们开小差，在讨论网络游戏</a:t>
            </a:r>
            <a:endParaRPr/>
          </a:p>
          <a:p>
            <a:pPr lvl="1">
              <a:defRPr/>
            </a:pPr>
            <a:r>
              <a:rPr lang="en-US"/>
              <a:t>A</a:t>
            </a:r>
            <a:r>
              <a:rPr lang="zh-CN"/>
              <a:t>卡在一个任务上，</a:t>
            </a:r>
            <a:r>
              <a:rPr lang="en-US"/>
              <a:t>B</a:t>
            </a:r>
            <a:r>
              <a:rPr lang="zh-CN"/>
              <a:t>通关了</a:t>
            </a:r>
            <a:endParaRPr/>
          </a:p>
          <a:p>
            <a:pPr>
              <a:defRPr/>
            </a:pPr>
            <a:r>
              <a:rPr lang="en-US"/>
              <a:t>B</a:t>
            </a:r>
            <a:r>
              <a:rPr lang="zh-CN"/>
              <a:t>告诉</a:t>
            </a:r>
            <a:r>
              <a:rPr lang="en-US"/>
              <a:t>A</a:t>
            </a:r>
            <a:r>
              <a:rPr lang="zh-CN"/>
              <a:t>，通关很简单：</a:t>
            </a:r>
            <a:endParaRPr/>
          </a:p>
          <a:p>
            <a:pPr lvl="1">
              <a:defRPr/>
            </a:pPr>
            <a:r>
              <a:rPr lang="zh-CN"/>
              <a:t>先要去市场找一个绿衣服的老者，他会给你一个字条</a:t>
            </a:r>
            <a:endParaRPr/>
          </a:p>
          <a:p>
            <a:pPr lvl="1">
              <a:defRPr/>
            </a:pPr>
            <a:r>
              <a:rPr lang="zh-CN"/>
              <a:t>这个字条有三种可能，对应要去三个不同的地方</a:t>
            </a:r>
            <a:endParaRPr/>
          </a:p>
          <a:p>
            <a:pPr lvl="1">
              <a:defRPr/>
            </a:pPr>
            <a:r>
              <a:rPr lang="zh-CN"/>
              <a:t>你要去对应的地方，找一个红衣服的商人，向他买一个锤子</a:t>
            </a:r>
            <a:endParaRPr/>
          </a:p>
          <a:p>
            <a:pPr lvl="1">
              <a:defRPr/>
            </a:pPr>
            <a:r>
              <a:rPr lang="zh-CN"/>
              <a:t>拿着字条和锤子，你就可以去大本营，大老怪就在那里，用锤子打死他就通关了</a:t>
            </a:r>
            <a:endParaRPr/>
          </a:p>
          <a:p>
            <a:pPr marL="0" indent="0">
              <a:buNone/>
              <a:defRPr/>
            </a:pPr>
            <a:endParaRPr lang="zh-CN"/>
          </a:p>
          <a:p>
            <a:pPr>
              <a:defRPr/>
            </a:pPr>
            <a:endParaRPr 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更好的例子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/>
              <a:t>这个游戏不是纯的，过程依赖字条和锤子</a:t>
            </a:r>
            <a:endParaRPr/>
          </a:p>
          <a:p>
            <a:pPr lvl="1">
              <a:defRPr/>
            </a:pPr>
            <a:r>
              <a:rPr lang="zh-CN"/>
              <a:t>不同的字条会引导你去不同的地方</a:t>
            </a:r>
            <a:endParaRPr/>
          </a:p>
          <a:p>
            <a:pPr>
              <a:defRPr/>
            </a:pPr>
            <a:r>
              <a:rPr lang="en-US"/>
              <a:t>B</a:t>
            </a:r>
            <a:r>
              <a:rPr lang="zh-CN"/>
              <a:t>的计划还没有影响游戏世界的任何内容</a:t>
            </a:r>
            <a:endParaRPr/>
          </a:p>
          <a:p>
            <a:pPr lvl="1">
              <a:defRPr/>
            </a:pPr>
            <a:r>
              <a:rPr lang="en-US"/>
              <a:t>A</a:t>
            </a:r>
            <a:r>
              <a:rPr lang="zh-CN"/>
              <a:t>和</a:t>
            </a:r>
            <a:r>
              <a:rPr lang="en-US"/>
              <a:t>B</a:t>
            </a:r>
            <a:r>
              <a:rPr lang="zh-CN"/>
              <a:t>都在教室上课</a:t>
            </a:r>
            <a:endParaRPr/>
          </a:p>
          <a:p>
            <a:pPr lvl="1">
              <a:defRPr/>
            </a:pPr>
            <a:r>
              <a:rPr lang="en-US"/>
              <a:t>A</a:t>
            </a:r>
            <a:r>
              <a:rPr lang="zh-CN"/>
              <a:t>还没有来得及登录游戏开始玩</a:t>
            </a:r>
            <a:endParaRPr/>
          </a:p>
          <a:p>
            <a:pPr>
              <a:defRPr/>
            </a:pPr>
            <a:r>
              <a:rPr lang="zh-CN"/>
              <a:t>计划是一个纯函数，没有副作用</a:t>
            </a:r>
            <a:endParaRPr/>
          </a:p>
          <a:p>
            <a:pPr lvl="1">
              <a:defRPr/>
            </a:pPr>
            <a:r>
              <a:rPr lang="zh-CN"/>
              <a:t>不管</a:t>
            </a:r>
            <a:r>
              <a:rPr lang="en-US"/>
              <a:t>B</a:t>
            </a:r>
            <a:r>
              <a:rPr lang="zh-CN"/>
              <a:t>跟</a:t>
            </a:r>
            <a:r>
              <a:rPr lang="en-US"/>
              <a:t>A</a:t>
            </a:r>
            <a:r>
              <a:rPr lang="zh-CN"/>
              <a:t>讲了多少遍，</a:t>
            </a:r>
            <a:r>
              <a:rPr lang="en-US"/>
              <a:t>A</a:t>
            </a:r>
            <a:r>
              <a:rPr lang="zh-CN"/>
              <a:t>得到的仍然是同一个计划</a:t>
            </a:r>
            <a:endParaRPr/>
          </a:p>
          <a:p>
            <a:pPr>
              <a:defRPr/>
            </a:pPr>
            <a:r>
              <a:rPr lang="zh-CN"/>
              <a:t>但是实施计划（玩游戏）是脏的，因为玩不同次可能会得到不同的字条，见到不同地方的商人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更好的例子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zh-CN"/>
              <a:t>每个步骤都会得到一个新的盒子，记录了当前的状态</a:t>
            </a:r>
            <a:endParaRPr/>
          </a:p>
          <a:p>
            <a:pPr lvl="1">
              <a:defRPr/>
            </a:pPr>
            <a:r>
              <a:rPr lang="zh-CN"/>
              <a:t>字条或者字条</a:t>
            </a:r>
            <a:r>
              <a:rPr lang="en-US"/>
              <a:t>+</a:t>
            </a:r>
            <a:r>
              <a:rPr lang="zh-CN"/>
              <a:t>锤子</a:t>
            </a:r>
            <a:endParaRPr/>
          </a:p>
          <a:p>
            <a:pPr lvl="1">
              <a:defRPr/>
            </a:pPr>
            <a:r>
              <a:rPr lang="zh-CN"/>
              <a:t>不依赖其他东西！</a:t>
            </a:r>
            <a:endParaRPr/>
          </a:p>
          <a:p>
            <a:pPr>
              <a:defRPr/>
            </a:pPr>
            <a:r>
              <a:rPr lang="zh-CN"/>
              <a:t>需要有盒子把这些状态装好，因为教室里的字条</a:t>
            </a:r>
            <a:r>
              <a:rPr lang="en-US"/>
              <a:t>/</a:t>
            </a:r>
            <a:r>
              <a:rPr lang="zh-CN"/>
              <a:t>锤子不是真的字条</a:t>
            </a:r>
            <a:r>
              <a:rPr lang="en-US"/>
              <a:t>/</a:t>
            </a:r>
            <a:r>
              <a:rPr lang="zh-CN"/>
              <a:t>锤子</a:t>
            </a:r>
            <a:endParaRPr/>
          </a:p>
          <a:p>
            <a:pPr lvl="1">
              <a:defRPr/>
            </a:pPr>
            <a:r>
              <a:rPr lang="zh-CN"/>
              <a:t>教室里的字条是抽象的，纯的</a:t>
            </a:r>
            <a:endParaRPr/>
          </a:p>
          <a:p>
            <a:pPr lvl="1">
              <a:defRPr/>
            </a:pPr>
            <a:r>
              <a:rPr lang="zh-CN"/>
              <a:t>游戏里的字条才是真的，但也是脏的</a:t>
            </a:r>
            <a:endParaRPr/>
          </a:p>
          <a:p>
            <a:pPr>
              <a:defRPr/>
            </a:pPr>
            <a:r>
              <a:rPr lang="zh-CN"/>
              <a:t>粘盒子的操作把这些步骤连在一起，变成了完整的攻略</a:t>
            </a:r>
            <a:endParaRPr/>
          </a:p>
          <a:p>
            <a:pPr>
              <a:defRPr/>
            </a:pPr>
            <a:r>
              <a:rPr lang="zh-CN"/>
              <a:t>打开盒子：根据攻略</a:t>
            </a:r>
            <a:r>
              <a:rPr lang="en-US"/>
              <a:t></a:t>
            </a:r>
            <a:r>
              <a:rPr lang="zh-CN"/>
              <a:t>玩游戏</a:t>
            </a:r>
            <a:endParaRPr/>
          </a:p>
          <a:p>
            <a:pPr>
              <a:defRPr/>
            </a:pPr>
            <a:r>
              <a:rPr lang="zh-CN"/>
              <a:t>整个过程是纯粹的！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在我们的项目中使用</a:t>
            </a:r>
            <a:r>
              <a:rPr lang="en-US"/>
              <a:t>Monad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我们要求整个项目基于</a:t>
            </a:r>
            <a:r>
              <a:rPr lang="en-US"/>
              <a:t>Monad</a:t>
            </a:r>
            <a:r>
              <a:rPr lang="zh-CN"/>
              <a:t>实现</a:t>
            </a:r>
            <a:endParaRPr lang="en-US"/>
          </a:p>
          <a:p>
            <a:pPr lvl="1">
              <a:defRPr/>
            </a:pPr>
            <a:r>
              <a:rPr lang="zh-CN"/>
              <a:t>对于后端</a:t>
            </a:r>
            <a:r>
              <a:rPr lang="en-US"/>
              <a:t>API</a:t>
            </a:r>
            <a:r>
              <a:rPr lang="zh-CN"/>
              <a:t>，我们会生成完整的</a:t>
            </a:r>
            <a:r>
              <a:rPr lang="en-US"/>
              <a:t>Monad</a:t>
            </a:r>
            <a:endParaRPr/>
          </a:p>
          <a:p>
            <a:pPr lvl="1">
              <a:defRPr/>
            </a:pPr>
            <a:r>
              <a:rPr lang="zh-CN"/>
              <a:t>我们自己不执行，是后端框架默默负责执行</a:t>
            </a:r>
            <a:endParaRPr lang="en-US"/>
          </a:p>
          <a:p>
            <a:pPr lvl="1">
              <a:defRPr/>
            </a:pPr>
            <a:r>
              <a:rPr lang="zh-CN"/>
              <a:t>此外，系统所有功能，都基于纯函数式的框架</a:t>
            </a:r>
            <a:endParaRPr lang="en-US"/>
          </a:p>
          <a:p>
            <a:pPr>
              <a:defRPr/>
            </a:pPr>
            <a:r>
              <a:rPr lang="zh-CN"/>
              <a:t>更加适合</a:t>
            </a:r>
            <a:r>
              <a:rPr lang="en-US"/>
              <a:t>AI</a:t>
            </a:r>
            <a:endParaRPr/>
          </a:p>
          <a:p>
            <a:pPr lvl="1">
              <a:defRPr/>
            </a:pPr>
            <a:r>
              <a:rPr lang="zh-CN"/>
              <a:t>任务单一纯粹</a:t>
            </a:r>
            <a:endParaRPr lang="en-US"/>
          </a:p>
          <a:p>
            <a:pPr lvl="1">
              <a:defRPr/>
            </a:pPr>
            <a:r>
              <a:rPr lang="zh-CN"/>
              <a:t>模块化</a:t>
            </a:r>
            <a:endParaRPr lang="en-US"/>
          </a:p>
          <a:p>
            <a:pPr lvl="1">
              <a:defRPr/>
            </a:pPr>
            <a:r>
              <a:rPr lang="zh-CN"/>
              <a:t>容易检查、更改、修复</a:t>
            </a:r>
            <a:endParaRPr lang="en-US"/>
          </a:p>
          <a:p>
            <a:pPr>
              <a:defRPr/>
            </a:pPr>
            <a:r>
              <a:rPr lang="zh-CN"/>
              <a:t>并发性能也会更好</a:t>
            </a:r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265753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Cats effect 包</a:t>
            </a:r>
            <a:endParaRPr lang="zh-CN"/>
          </a:p>
        </p:txBody>
      </p:sp>
      <p:sp>
        <p:nvSpPr>
          <p:cNvPr id="59067455" name="内容占位符 2"/>
          <p:cNvSpPr>
            <a:spLocks noGrp="1"/>
          </p:cNvSpPr>
          <p:nvPr>
            <p:ph idx="1"/>
          </p:nvPr>
        </p:nvSpPr>
        <p:spPr bwMode="auto">
          <a:xfrm>
            <a:off x="838199" y="1825623"/>
            <a:ext cx="10515600" cy="5032374"/>
          </a:xfrm>
        </p:spPr>
        <p:txBody>
          <a:bodyPr/>
          <a:lstStyle/>
          <a:p>
            <a:pPr>
              <a:defRPr/>
            </a:pPr>
            <a:r>
              <a:rPr lang="en-US"/>
              <a:t>Fiber（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纤程</a:t>
            </a:r>
            <a:r>
              <a:rPr lang="en-US"/>
              <a:t>）</a:t>
            </a:r>
            <a:endParaRPr/>
          </a:p>
          <a:p>
            <a:pPr lvl="1">
              <a:defRPr/>
            </a:pPr>
            <a:r>
              <a:rPr lang="en-US"/>
              <a:t>非常轻量级的线程：150 bytes/fiber</a:t>
            </a:r>
            <a:endParaRPr/>
          </a:p>
          <a:p>
            <a:pPr lvl="1">
              <a:defRPr/>
            </a:pPr>
            <a:r>
              <a:rPr lang="en-US"/>
              <a:t>每个机器可以运行百万个fiber</a:t>
            </a:r>
            <a:endParaRPr/>
          </a:p>
          <a:p>
            <a:pPr lvl="1">
              <a:defRPr/>
            </a:pPr>
            <a:r>
              <a:rPr lang="en-US"/>
              <a:t>每个fiber都可以运行一个IO</a:t>
            </a:r>
            <a:endParaRPr/>
          </a:p>
          <a:p>
            <a:pPr>
              <a:defRPr/>
            </a:pPr>
            <a:r>
              <a:rPr lang="en-US"/>
              <a:t>Cats effect为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纤程</a:t>
            </a:r>
            <a:r>
              <a:rPr lang="en-US"/>
              <a:t>提供各类原生支持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Cats effect引入IO[_], IO就是一个Monad</a:t>
            </a:r>
          </a:p>
        </p:txBody>
      </p:sp>
      <p:pic>
        <p:nvPicPr>
          <p:cNvPr id="396904522" name="图片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156285" y="186781"/>
            <a:ext cx="5035713" cy="1934716"/>
          </a:xfrm>
          <a:prstGeom prst="rect">
            <a:avLst/>
          </a:prstGeom>
        </p:spPr>
      </p:pic>
      <p:pic>
        <p:nvPicPr>
          <p:cNvPr id="113350027" name="图片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680961" y="2299842"/>
            <a:ext cx="3832090" cy="1678419"/>
          </a:xfrm>
          <a:prstGeom prst="rect">
            <a:avLst/>
          </a:prstGeom>
        </p:spPr>
      </p:pic>
      <p:pic>
        <p:nvPicPr>
          <p:cNvPr id="75101409" name="图片 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819653" y="4425039"/>
            <a:ext cx="5116154" cy="6229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31CF-3DD1-4B70-EFED-0C94DC9C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89AC21-9F73-F122-605F-B685340B87B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签到：黑板上写的是什么？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3C0448-55AE-4477-7CAE-90D0BA7967E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1AE4C4-875C-AE4B-A6E6-909B63E948E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B17B8E7-652F-5C96-E40D-B72CEDB2D6C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7E5DB54-6F10-B77C-5541-AA3B8F5C5D1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6E461D-8B1A-0217-E44D-22906664DC0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78F0A7-6464-5C3E-A953-0059F3409AA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115DBDC-4165-64FE-88C3-5ACF547D6A7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10D9D1-ACAB-822B-6D38-6EECA73CDCD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CD7404C-1739-A8B6-9E4B-F82D5FB2449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3E8BAC9-FECD-E7D6-2DA4-74C88F85ED8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257DAD3-4AAB-13B3-6F6B-67970C490C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603716A-0486-EFA2-EBF1-04F10E8CEFC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2C309107-ADD7-D982-E75F-C4BC26D17A9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" name="TipText">
              <a:extLst>
                <a:ext uri="{FF2B5EF4-FFF2-40B4-BE49-F238E27FC236}">
                  <a16:creationId xmlns:a16="http://schemas.microsoft.com/office/drawing/2014/main" id="{5E40AE57-AEC6-4803-BE3F-06CFF7F8EB6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F459ADC-6572-6244-95FF-BDF0EF8C27D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597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1457917332310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44709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46266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49194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0320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112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116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2001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3257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4019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4985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591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6944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7691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8455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  <p:tag name="LOCALSLIDEID" val="1789882110631319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59607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0325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0489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1080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2544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3129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4218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5337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1457917365448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  <p:tag name="LOCALSLIDEID" val="1789882110631319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2092</Words>
  <Application>Microsoft Office PowerPoint</Application>
  <PresentationFormat>宽屏</PresentationFormat>
  <Paragraphs>218</Paragraphs>
  <Slides>26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等线</vt:lpstr>
      <vt:lpstr>等线 Light</vt:lpstr>
      <vt:lpstr>Microsoft Yahei</vt:lpstr>
      <vt:lpstr>Arial</vt:lpstr>
      <vt:lpstr>Cambria Math</vt:lpstr>
      <vt:lpstr>Office 主题​​</vt:lpstr>
      <vt:lpstr>无代码零基础软件制作</vt:lpstr>
      <vt:lpstr>模式匹配</vt:lpstr>
      <vt:lpstr>try, catch, finally</vt:lpstr>
      <vt:lpstr>Option[T]</vt:lpstr>
      <vt:lpstr>Try[T]</vt:lpstr>
      <vt:lpstr>object （这里的object不是之后说的对象）</vt:lpstr>
      <vt:lpstr>Object和Class（类）的区别</vt:lpstr>
      <vt:lpstr>Case class</vt:lpstr>
      <vt:lpstr>枚举类型</vt:lpstr>
      <vt:lpstr>Trait（性质）, class, abstract class</vt:lpstr>
      <vt:lpstr>应该如何设计系统中的对象</vt:lpstr>
      <vt:lpstr>函数式编程</vt:lpstr>
      <vt:lpstr>函数式编程</vt:lpstr>
      <vt:lpstr>如果副作用是必须的呢？</vt:lpstr>
      <vt:lpstr>与面向对象的对比</vt:lpstr>
      <vt:lpstr>PowerPoint 演示文稿</vt:lpstr>
      <vt:lpstr>Monad（单子）: 如何处理副作用</vt:lpstr>
      <vt:lpstr>单子处理副作用</vt:lpstr>
      <vt:lpstr>把两个盒子粘起来！</vt:lpstr>
      <vt:lpstr>举个例子</vt:lpstr>
      <vt:lpstr>更好的例子</vt:lpstr>
      <vt:lpstr>更好的例子</vt:lpstr>
      <vt:lpstr>更好的例子</vt:lpstr>
      <vt:lpstr>在我们的项目中使用Monad</vt:lpstr>
      <vt:lpstr>Cats effect 包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Yuan Yang</dc:creator>
  <cp:lastModifiedBy>Yang Yuan</cp:lastModifiedBy>
  <cp:revision>334</cp:revision>
  <dcterms:created xsi:type="dcterms:W3CDTF">2022-07-30T06:10:28Z</dcterms:created>
  <dcterms:modified xsi:type="dcterms:W3CDTF">2026-10-08T13:00:07Z</dcterms:modified>
</cp:coreProperties>
</file>