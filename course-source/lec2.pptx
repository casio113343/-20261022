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notesSlides/notesSlide8.xml" ContentType="application/vnd.openxmlformats-officedocument.presentationml.notesSlide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tags/tag16.xml" ContentType="application/vnd.openxmlformats-officedocument.presentationml.tags+xml"/>
  <Override PartName="/ppt/notesSlides/notesSlide1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2.xml" ContentType="application/vnd.openxmlformats-officedocument.presentationml.notesSlide+xml"/>
  <Override PartName="/ppt/tags/tag20.xml" ContentType="application/vnd.openxmlformats-officedocument.presentationml.tags+xml"/>
  <Override PartName="/ppt/notesSlides/notesSlide13.xml" ContentType="application/vnd.openxmlformats-officedocument.presentationml.notesSlide+xml"/>
  <Override PartName="/ppt/tags/tag21.xml" ContentType="application/vnd.openxmlformats-officedocument.presentationml.tags+xml"/>
  <Override PartName="/ppt/notesSlides/notesSlide14.xml" ContentType="application/vnd.openxmlformats-officedocument.presentationml.notesSlide+xml"/>
  <Override PartName="/ppt/tags/tag22.xml" ContentType="application/vnd.openxmlformats-officedocument.presentationml.tags+xml"/>
  <Override PartName="/ppt/notesSlides/notesSlide15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6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17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56" r:id="rId2"/>
    <p:sldId id="757" r:id="rId3"/>
    <p:sldId id="740" r:id="rId4"/>
    <p:sldId id="294" r:id="rId5"/>
    <p:sldId id="741" r:id="rId6"/>
    <p:sldId id="758" r:id="rId7"/>
    <p:sldId id="742" r:id="rId8"/>
    <p:sldId id="743" r:id="rId9"/>
    <p:sldId id="756" r:id="rId10"/>
    <p:sldId id="744" r:id="rId11"/>
    <p:sldId id="301" r:id="rId12"/>
    <p:sldId id="745" r:id="rId13"/>
    <p:sldId id="746" r:id="rId14"/>
    <p:sldId id="748" r:id="rId15"/>
    <p:sldId id="309" r:id="rId16"/>
    <p:sldId id="759" r:id="rId17"/>
    <p:sldId id="760" r:id="rId18"/>
    <p:sldId id="312" r:id="rId19"/>
    <p:sldId id="752" r:id="rId20"/>
    <p:sldId id="754" r:id="rId21"/>
    <p:sldId id="317" r:id="rId22"/>
    <p:sldId id="606" r:id="rId23"/>
    <p:sldId id="308" r:id="rId24"/>
    <p:sldId id="671" r:id="rId25"/>
    <p:sldId id="695" r:id="rId26"/>
    <p:sldId id="607" r:id="rId27"/>
    <p:sldId id="275" r:id="rId28"/>
    <p:sldId id="293" r:id="rId29"/>
    <p:sldId id="295" r:id="rId30"/>
    <p:sldId id="296" r:id="rId31"/>
    <p:sldId id="297" r:id="rId32"/>
    <p:sldId id="302" r:id="rId33"/>
    <p:sldId id="304" r:id="rId34"/>
    <p:sldId id="348" r:id="rId35"/>
    <p:sldId id="761" r:id="rId36"/>
    <p:sldId id="762" r:id="rId37"/>
    <p:sldId id="763" r:id="rId38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9A18AE8-78E4-4774-8DC1-1806A8333180}">
          <p14:sldIdLst>
            <p14:sldId id="356"/>
            <p14:sldId id="757"/>
            <p14:sldId id="740"/>
            <p14:sldId id="294"/>
            <p14:sldId id="741"/>
            <p14:sldId id="758"/>
            <p14:sldId id="742"/>
            <p14:sldId id="743"/>
            <p14:sldId id="756"/>
            <p14:sldId id="744"/>
            <p14:sldId id="301"/>
            <p14:sldId id="745"/>
            <p14:sldId id="746"/>
            <p14:sldId id="748"/>
            <p14:sldId id="309"/>
            <p14:sldId id="759"/>
            <p14:sldId id="760"/>
            <p14:sldId id="312"/>
            <p14:sldId id="752"/>
            <p14:sldId id="754"/>
            <p14:sldId id="317"/>
          </p14:sldIdLst>
        </p14:section>
        <p14:section name="coding tutorial" id="{CB27D678-5DBD-4E3A-BEC6-D29BE23DA7F3}">
          <p14:sldIdLst>
            <p14:sldId id="606"/>
            <p14:sldId id="308"/>
            <p14:sldId id="671"/>
            <p14:sldId id="695"/>
            <p14:sldId id="607"/>
            <p14:sldId id="275"/>
            <p14:sldId id="293"/>
            <p14:sldId id="295"/>
            <p14:sldId id="296"/>
            <p14:sldId id="297"/>
            <p14:sldId id="302"/>
            <p14:sldId id="304"/>
            <p14:sldId id="348"/>
            <p14:sldId id="761"/>
            <p14:sldId id="762"/>
            <p14:sldId id="7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01" autoAdjust="0"/>
    <p:restoredTop sz="89612" autoAdjust="0"/>
  </p:normalViewPr>
  <p:slideViewPr>
    <p:cSldViewPr snapToGrid="0">
      <p:cViewPr varScale="1">
        <p:scale>
          <a:sx n="87" d="100"/>
          <a:sy n="87" d="100"/>
        </p:scale>
        <p:origin x="5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EB8CE-7310-478D-B7AC-F9C809279AA1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FA0A4-A068-4199-80FC-6187F51285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333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CD3E6A-F9A7-2477-3263-CB5D85119158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FE835-B854-75C9-A5EE-A468CB279010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6E3925-F605-334D-3B21-A190A2BDFD3F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4AFA0A4-A068-4199-80FC-6187F51285D3}" type="slidenum">
              <a:rPr lang="en-US" altLang="zh-CN"/>
              <a:t>7</a:t>
            </a:fld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BC91A4-D2E0-6E39-3017-DC7D1E4D5954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67AB66-1E38-5520-439E-AA73DD6A5F1E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25F5A0-9497-CFCF-7672-531597E429D2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9B174A-FCA9-2BBC-3B80-728C19F713F8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5DE8AE-0326-B42B-19A8-C50D53D9D1AC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F50BEE-80AF-F176-FDC9-54626E5D293A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4AFA0A4-A068-4199-80FC-6187F51285D3}" type="slidenum">
              <a:rPr lang="en-US" altLang="zh-CN"/>
              <a:t>15</a:t>
            </a:fld>
            <a:endParaRPr 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716C31-0902-F14F-A1EF-AECB5CCAAFE8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D4E40-2FCA-48D0-95BE-0A3C5548E229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209C8-C6B9-18A6-49B1-1FB757A29A51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9B6CC3-DB8A-9285-8A0A-2463025E772E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3D01B-9344-4E79-BCC9-C217C768E7F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67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44B60-D56E-C38B-BBC3-5D9F4A37C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DB521B-FAF5-2EB9-8133-457296286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E8A1E5-8895-CDCD-6AB6-867195A41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781A59-0BCD-46F1-952E-468351626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3D01B-9344-4E79-BCC9-C217C768E7F1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89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F4D0-3DD5-4024-8207-CCFAC661E08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7EE-4403-431A-A4C2-0890CE05BC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516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F4D0-3DD5-4024-8207-CCFAC661E08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7EE-4403-431A-A4C2-0890CE05BC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76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F4D0-3DD5-4024-8207-CCFAC661E08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7EE-4403-431A-A4C2-0890CE05BC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83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F4D0-3DD5-4024-8207-CCFAC661E08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7EE-4403-431A-A4C2-0890CE05BC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747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F4D0-3DD5-4024-8207-CCFAC661E08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7EE-4403-431A-A4C2-0890CE05BC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114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F4D0-3DD5-4024-8207-CCFAC661E08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7EE-4403-431A-A4C2-0890CE05BC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98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F4D0-3DD5-4024-8207-CCFAC661E08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7EE-4403-431A-A4C2-0890CE05BC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590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F4D0-3DD5-4024-8207-CCFAC661E08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7EE-4403-431A-A4C2-0890CE05BC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978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F4D0-3DD5-4024-8207-CCFAC661E08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7EE-4403-431A-A4C2-0890CE05BC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852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F4D0-3DD5-4024-8207-CCFAC661E08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7EE-4403-431A-A4C2-0890CE05BC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AF4D0-3DD5-4024-8207-CCFAC661E08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0A7EE-4403-431A-A4C2-0890CE05BC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05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AF4D0-3DD5-4024-8207-CCFAC661E089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0A7EE-4403-431A-A4C2-0890CE05BC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01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4.png"/><Relationship Id="rId4" Type="http://schemas.openxmlformats.org/officeDocument/2006/relationships/hyperlink" Target="mailto:XXX@thu.edu.cn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api/auth/session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zh-Hans-CN/download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image" Target="../media/image18.png"/><Relationship Id="rId4" Type="http://schemas.openxmlformats.org/officeDocument/2006/relationships/hyperlink" Target="https://chatgpt.com/codex/install.sh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10" Type="http://schemas.openxmlformats.org/officeDocument/2006/relationships/tags" Target="../tags/tag34.xml"/><Relationship Id="rId19" Type="http://schemas.openxmlformats.org/officeDocument/2006/relationships/image" Target="../media/image25.tmp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image" Target="../media/image26.tmp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notesSlide" Target="../notesSlides/notesSlide16.xml"/><Relationship Id="rId5" Type="http://schemas.openxmlformats.org/officeDocument/2006/relationships/tags" Target="../tags/tag46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5.xml"/><Relationship Id="rId9" Type="http://schemas.openxmlformats.org/officeDocument/2006/relationships/tags" Target="../tags/tag5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image" Target="../media/image26.tmp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notesSlide" Target="../notesSlides/notesSlide17.xml"/><Relationship Id="rId5" Type="http://schemas.openxmlformats.org/officeDocument/2006/relationships/tags" Target="../tags/tag6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tags" Target="../tags/tag8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17" Type="http://schemas.openxmlformats.org/officeDocument/2006/relationships/tags" Target="../tags/tag86.xml"/><Relationship Id="rId2" Type="http://schemas.openxmlformats.org/officeDocument/2006/relationships/tags" Target="../tags/tag71.xml"/><Relationship Id="rId16" Type="http://schemas.openxmlformats.org/officeDocument/2006/relationships/tags" Target="../tags/tag85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5" Type="http://schemas.openxmlformats.org/officeDocument/2006/relationships/tags" Target="../tags/tag84.xml"/><Relationship Id="rId10" Type="http://schemas.openxmlformats.org/officeDocument/2006/relationships/tags" Target="../tags/tag79.xml"/><Relationship Id="rId19" Type="http://schemas.openxmlformats.org/officeDocument/2006/relationships/image" Target="../media/image25.tmp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tags" Target="../tags/tag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267A20-88CB-8754-D057-818CC1A148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无代码零基础软件制作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E39002-BEBA-647C-AC83-5F23A6832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8408"/>
            <a:ext cx="9144000" cy="1655762"/>
          </a:xfrm>
        </p:spPr>
        <p:txBody>
          <a:bodyPr/>
          <a:lstStyle/>
          <a:p>
            <a:r>
              <a:rPr lang="zh-CN" altLang="en-US" dirty="0"/>
              <a:t>袁洋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478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60A350-6974-8A25-63CD-D608CD46D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0F89B3-0EE3-D31C-28DA-7C62910C9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补退选的同学可以通过特殊原因选课再选一下</a:t>
            </a:r>
            <a:endParaRPr lang="en-US" altLang="zh-CN" dirty="0"/>
          </a:p>
          <a:p>
            <a:pPr lvl="1"/>
            <a:r>
              <a:rPr lang="zh-CN" altLang="en-US" dirty="0"/>
              <a:t>目前还有</a:t>
            </a:r>
            <a:r>
              <a:rPr lang="en-US" altLang="zh-CN" dirty="0"/>
              <a:t>14</a:t>
            </a:r>
            <a:r>
              <a:rPr lang="zh-CN" altLang="en-US" dirty="0"/>
              <a:t>个名额，</a:t>
            </a:r>
            <a:r>
              <a:rPr lang="en-US" altLang="zh-CN" dirty="0"/>
              <a:t>5</a:t>
            </a:r>
            <a:r>
              <a:rPr lang="zh-CN" altLang="en-US" dirty="0"/>
              <a:t>个同学等待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VPN</a:t>
            </a:r>
            <a:r>
              <a:rPr lang="zh-CN" altLang="en-US" dirty="0"/>
              <a:t>、</a:t>
            </a:r>
            <a:r>
              <a:rPr lang="en-US" altLang="zh-CN" dirty="0"/>
              <a:t>GPT</a:t>
            </a:r>
            <a:r>
              <a:rPr lang="zh-CN" altLang="en-US" dirty="0"/>
              <a:t>账户我们下周一统一发放</a:t>
            </a:r>
            <a:endParaRPr lang="en-US" altLang="zh-CN" dirty="0"/>
          </a:p>
          <a:p>
            <a:pPr lvl="1"/>
            <a:r>
              <a:rPr lang="en-US" altLang="zh-CN" dirty="0"/>
              <a:t>GPT</a:t>
            </a:r>
            <a:r>
              <a:rPr lang="zh-CN" altLang="en-US" dirty="0"/>
              <a:t>账户怎么注册一会说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9180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8200" y="2766218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zh-CN" altLang="en-US" dirty="0"/>
              <a:t>环境配置</a:t>
            </a:r>
            <a:endParaRPr lang="zh-CN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配置环境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838200" y="1825624"/>
            <a:ext cx="10515600" cy="49561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推荐使用</a:t>
            </a:r>
            <a:r>
              <a:rPr lang="en-US" altLang="zh-CN" dirty="0" err="1"/>
              <a:t>windows+wsl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如果你使用别的系统，那么请你自己探索</a:t>
            </a:r>
            <a:endParaRPr dirty="0"/>
          </a:p>
          <a:p>
            <a:pPr>
              <a:defRPr/>
            </a:pPr>
            <a:r>
              <a:rPr lang="en-US" dirty="0" err="1"/>
              <a:t>Intellij</a:t>
            </a:r>
            <a:endParaRPr lang="en-US" dirty="0"/>
          </a:p>
          <a:p>
            <a:pPr>
              <a:defRPr/>
            </a:pPr>
            <a:r>
              <a:rPr lang="en-US" dirty="0" err="1"/>
              <a:t>Webstorm</a:t>
            </a:r>
            <a:endParaRPr lang="en-US" dirty="0"/>
          </a:p>
          <a:p>
            <a:pPr>
              <a:defRPr/>
            </a:pPr>
            <a:r>
              <a:rPr lang="en-US" dirty="0" err="1"/>
              <a:t>Vpn</a:t>
            </a:r>
            <a:endParaRPr lang="en-US" dirty="0"/>
          </a:p>
          <a:p>
            <a:pPr>
              <a:defRPr/>
            </a:pPr>
            <a:r>
              <a:rPr lang="en-US" dirty="0"/>
              <a:t>Plugins: scala</a:t>
            </a:r>
          </a:p>
          <a:p>
            <a:pPr>
              <a:defRPr/>
            </a:pPr>
            <a:r>
              <a:rPr lang="en-US" dirty="0"/>
              <a:t>Git</a:t>
            </a:r>
          </a:p>
          <a:p>
            <a:pPr>
              <a:defRPr/>
            </a:pPr>
            <a:r>
              <a:rPr lang="en-US" dirty="0"/>
              <a:t>NodeJS, </a:t>
            </a:r>
            <a:r>
              <a:rPr lang="en-US" dirty="0" err="1"/>
              <a:t>npm</a:t>
            </a:r>
            <a:endParaRPr lang="en-US" dirty="0"/>
          </a:p>
          <a:p>
            <a:pPr>
              <a:defRPr/>
            </a:pPr>
            <a:r>
              <a:rPr lang="en-US" dirty="0" err="1"/>
              <a:t>postgresql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7059385" cy="1325563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Windows</a:t>
            </a:r>
            <a:r>
              <a:rPr lang="zh-CN" altLang="en-US" dirty="0"/>
              <a:t>请使用英文用户名</a:t>
            </a:r>
            <a:endParaRPr lang="zh-CN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4"/>
          <a:stretch/>
        </p:blipFill>
        <p:spPr bwMode="auto">
          <a:xfrm>
            <a:off x="8377743" y="214538"/>
            <a:ext cx="2976057" cy="6580395"/>
          </a:xfrm>
        </p:spPr>
      </p:pic>
      <p:sp>
        <p:nvSpPr>
          <p:cNvPr id="6" name="内容占位符 2"/>
          <p:cNvSpPr txBox="1"/>
          <p:nvPr/>
        </p:nvSpPr>
        <p:spPr bwMode="auto">
          <a:xfrm>
            <a:off x="838200" y="1825624"/>
            <a:ext cx="6667500" cy="4956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/>
              <a:t>如果你不小心使用了中文用户名，可以再创建一个英文用户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课程结束之后删掉即可</a:t>
            </a:r>
            <a:endParaRPr dirty="0"/>
          </a:p>
          <a:p>
            <a:pPr>
              <a:defRPr/>
            </a:pPr>
            <a:r>
              <a:rPr lang="zh-CN" altLang="en-US" dirty="0"/>
              <a:t>不要使用中文目录名，推荐类似：</a:t>
            </a:r>
            <a:endParaRPr lang="en-US" dirty="0"/>
          </a:p>
          <a:p>
            <a:pPr lvl="1">
              <a:defRPr/>
            </a:pPr>
            <a:r>
              <a:rPr lang="en-US" dirty="0"/>
              <a:t>C:\zerocode\projectA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zh-CN" altLang="en-US" dirty="0"/>
              <a:t>非常重要！</a:t>
            </a:r>
            <a:endParaRPr lang="zh-CN" dirty="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BDF3A-64C9-21E2-698C-93B19A8C8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/>
              <a:t>WSL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1530F6-62A4-7D33-00B5-87B8F5060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打开</a:t>
            </a:r>
            <a:r>
              <a:rPr lang="en-US" altLang="zh-CN" dirty="0" err="1"/>
              <a:t>powershell</a:t>
            </a:r>
            <a:endParaRPr lang="en-US" altLang="zh-CN" dirty="0"/>
          </a:p>
          <a:p>
            <a:pPr lvl="1"/>
            <a:r>
              <a:rPr lang="zh-CN" altLang="en-US" dirty="0"/>
              <a:t>管理员身份</a:t>
            </a:r>
            <a:endParaRPr lang="en-US" altLang="zh-CN" dirty="0"/>
          </a:p>
          <a:p>
            <a:pPr lvl="1"/>
            <a:r>
              <a:rPr lang="zh-CN" altLang="en-US" dirty="0"/>
              <a:t>按任意键即可安装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再次输入</a:t>
            </a:r>
            <a:r>
              <a:rPr lang="en-US" altLang="zh-CN" dirty="0" err="1"/>
              <a:t>wsl</a:t>
            </a:r>
            <a:r>
              <a:rPr lang="zh-CN" altLang="en-US" dirty="0"/>
              <a:t>，即可进入</a:t>
            </a:r>
            <a:r>
              <a:rPr lang="en-US" altLang="zh-CN" dirty="0" err="1"/>
              <a:t>linux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71844E-88FF-AC04-547C-AD96866E1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710" y="2265410"/>
            <a:ext cx="6160316" cy="34717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02EC465-9515-6DB8-BDB8-9952B0301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0968" y="0"/>
            <a:ext cx="7801032" cy="19812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0405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安装</a:t>
            </a:r>
            <a:r>
              <a:rPr lang="en-US" dirty="0"/>
              <a:t> </a:t>
            </a:r>
            <a:r>
              <a:rPr lang="en-US" dirty="0" err="1"/>
              <a:t>intellij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276497" y="1607911"/>
            <a:ext cx="37338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你可以用</a:t>
            </a:r>
            <a:r>
              <a:rPr lang="en-US" dirty="0"/>
              <a:t> </a:t>
            </a:r>
            <a:r>
              <a:rPr lang="en-US" u="sng" dirty="0">
                <a:hlinkClick r:id="rId4" tooltip="mailto:XXX@thu.edu.cn"/>
              </a:rPr>
              <a:t>XXX@thu.edu.cn</a:t>
            </a:r>
            <a:r>
              <a:rPr lang="en-US" dirty="0"/>
              <a:t> </a:t>
            </a:r>
            <a:r>
              <a:rPr lang="zh-CN" altLang="en-US" dirty="0"/>
              <a:t>获取</a:t>
            </a:r>
            <a:r>
              <a:rPr lang="en-US" altLang="zh-CN" dirty="0"/>
              <a:t>ultimate</a:t>
            </a:r>
            <a:r>
              <a:rPr lang="zh-CN" altLang="en-US" dirty="0"/>
              <a:t>版本</a:t>
            </a:r>
            <a:endParaRPr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/>
              <a:t>但是免费版完全够用</a:t>
            </a:r>
            <a:endParaRPr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59C38C-6591-4206-8531-E9BD4A78C6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7445" y="0"/>
            <a:ext cx="7914555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安装</a:t>
            </a:r>
            <a:r>
              <a:rPr lang="en-US" dirty="0"/>
              <a:t> </a:t>
            </a:r>
            <a:r>
              <a:rPr lang="en-US" dirty="0" err="1"/>
              <a:t>Webstorm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420188" y="1607911"/>
            <a:ext cx="4718957" cy="4351338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Webstorm</a:t>
            </a:r>
            <a:r>
              <a:rPr lang="en-US" dirty="0"/>
              <a:t> </a:t>
            </a:r>
            <a:r>
              <a:rPr lang="zh-CN" altLang="en-US" dirty="0"/>
              <a:t>是免费的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/>
              <a:t>你也可以使用</a:t>
            </a:r>
            <a:r>
              <a:rPr lang="en-US" altLang="zh-CN" dirty="0" err="1"/>
              <a:t>vscode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我更喜欢</a:t>
            </a:r>
            <a:r>
              <a:rPr lang="en-US" altLang="zh-CN" dirty="0" err="1"/>
              <a:t>webstorm</a:t>
            </a:r>
            <a:r>
              <a:rPr lang="zh-CN" altLang="en-US" dirty="0"/>
              <a:t>看前端代码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08F90D-6403-468B-8716-4288315AD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188" y="283664"/>
            <a:ext cx="6916371" cy="620921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20E92-BB17-BD66-4532-31ADAA072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VPN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778211-81ED-59CC-67D1-ED746563F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236"/>
            <a:ext cx="10515600" cy="4351338"/>
          </a:xfrm>
        </p:spPr>
        <p:txBody>
          <a:bodyPr/>
          <a:lstStyle/>
          <a:p>
            <a:r>
              <a:rPr lang="zh-CN" altLang="en-US" dirty="0"/>
              <a:t>下载清华云中的</a:t>
            </a:r>
            <a:r>
              <a:rPr lang="en-US" altLang="zh-CN" dirty="0"/>
              <a:t>wireguard-amd64-0.5.3.msi</a:t>
            </a:r>
          </a:p>
          <a:p>
            <a:pPr lvl="1"/>
            <a:r>
              <a:rPr lang="zh-CN" altLang="en-US" dirty="0"/>
              <a:t>双击安装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打开</a:t>
            </a:r>
            <a:r>
              <a:rPr lang="en-US" altLang="zh-CN" dirty="0" err="1"/>
              <a:t>wireguard</a:t>
            </a:r>
            <a:endParaRPr lang="en-US" altLang="zh-CN" dirty="0"/>
          </a:p>
          <a:p>
            <a:pPr lvl="1"/>
            <a:r>
              <a:rPr lang="zh-CN" altLang="en-US" dirty="0"/>
              <a:t>点击新建隧道</a:t>
            </a:r>
            <a:endParaRPr lang="en-US" altLang="zh-CN" dirty="0"/>
          </a:p>
          <a:p>
            <a:pPr lvl="1"/>
            <a:r>
              <a:rPr lang="zh-CN" altLang="en-US" dirty="0"/>
              <a:t>选择我们发的</a:t>
            </a:r>
            <a:r>
              <a:rPr lang="en-US" altLang="zh-CN" dirty="0" err="1"/>
              <a:t>vpn</a:t>
            </a:r>
            <a:r>
              <a:rPr lang="zh-CN" altLang="en-US" dirty="0"/>
              <a:t>文件即可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请确保使用时你可以上网，并且没有打开其他的</a:t>
            </a:r>
            <a:r>
              <a:rPr lang="en-US" altLang="zh-CN" dirty="0"/>
              <a:t>VPN</a:t>
            </a:r>
          </a:p>
          <a:p>
            <a:pPr lvl="1"/>
            <a:r>
              <a:rPr lang="zh-CN" altLang="en-US" dirty="0"/>
              <a:t>连接之后，就可以上</a:t>
            </a:r>
            <a:r>
              <a:rPr lang="en-US" altLang="zh-CN" dirty="0"/>
              <a:t>google</a:t>
            </a:r>
            <a:r>
              <a:rPr lang="zh-CN" altLang="en-US" dirty="0"/>
              <a:t>和</a:t>
            </a:r>
            <a:r>
              <a:rPr lang="en-US" altLang="zh-CN" dirty="0" err="1"/>
              <a:t>chatgpt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3EB8EF-1B36-1C1F-1720-99302D34B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218" y="549474"/>
            <a:ext cx="4400582" cy="13716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927CC6E-97B1-198C-F83D-C1C1C23CB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977" y="2285996"/>
            <a:ext cx="3345965" cy="26509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40205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安装</a:t>
            </a:r>
            <a:r>
              <a:rPr lang="en-US" dirty="0"/>
              <a:t> </a:t>
            </a:r>
            <a:r>
              <a:rPr lang="en-US" dirty="0" err="1"/>
              <a:t>sbt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431511" y="1879713"/>
            <a:ext cx="4998283" cy="4351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打开</a:t>
            </a:r>
            <a:r>
              <a:rPr lang="en-US" dirty="0"/>
              <a:t> </a:t>
            </a:r>
            <a:r>
              <a:rPr lang="en-US" dirty="0" err="1"/>
              <a:t>Intellij</a:t>
            </a:r>
            <a:r>
              <a:rPr lang="en-US" dirty="0"/>
              <a:t>, </a:t>
            </a:r>
            <a:r>
              <a:rPr lang="zh-CN" altLang="en-US" dirty="0"/>
              <a:t>点</a:t>
            </a:r>
            <a:r>
              <a:rPr lang="en-US" dirty="0"/>
              <a:t>new project</a:t>
            </a:r>
            <a:endParaRPr dirty="0"/>
          </a:p>
          <a:p>
            <a:pPr>
              <a:defRPr/>
            </a:pPr>
            <a:r>
              <a:rPr lang="zh-CN" altLang="en-US" dirty="0"/>
              <a:t>选择</a:t>
            </a:r>
            <a:r>
              <a:rPr lang="en-US" dirty="0"/>
              <a:t> empty project</a:t>
            </a:r>
            <a:endParaRPr dirty="0"/>
          </a:p>
          <a:p>
            <a:pPr>
              <a:defRPr/>
            </a:pPr>
            <a:r>
              <a:rPr lang="en-US" dirty="0"/>
              <a:t>Setting-&gt; Plugins -&gt; Scala</a:t>
            </a:r>
            <a:endParaRPr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048457" y="185056"/>
            <a:ext cx="4613426" cy="369025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595293" y="1984005"/>
            <a:ext cx="6066590" cy="391755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766749" y="1530127"/>
            <a:ext cx="2355560" cy="520840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安装</a:t>
            </a:r>
            <a:r>
              <a:rPr lang="en-US" dirty="0"/>
              <a:t> git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2895600" cy="4351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安装</a:t>
            </a:r>
            <a:r>
              <a:rPr lang="en-US" dirty="0"/>
              <a:t> git</a:t>
            </a:r>
            <a:endParaRPr dirty="0"/>
          </a:p>
          <a:p>
            <a:pPr>
              <a:defRPr/>
            </a:pPr>
            <a:r>
              <a:rPr lang="zh-CN" altLang="en-US" dirty="0"/>
              <a:t>推荐默认配置</a:t>
            </a:r>
            <a:endParaRPr 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853D2F-C7AA-4220-8B31-115D1FCC7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455" y="458425"/>
            <a:ext cx="6460610" cy="516731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创建一个空的</a:t>
            </a:r>
            <a:r>
              <a:rPr lang="en-US" altLang="zh-CN" dirty="0"/>
              <a:t>Scala</a:t>
            </a:r>
            <a:r>
              <a:rPr lang="zh-CN" altLang="en-US" dirty="0"/>
              <a:t>项目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838200" y="1825624"/>
            <a:ext cx="3944815" cy="4877629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File -&gt; New -&gt; Project</a:t>
            </a:r>
            <a:endParaRPr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zh-CN" altLang="en-US" dirty="0"/>
              <a:t>选择</a:t>
            </a:r>
            <a:r>
              <a:rPr lang="en-US" dirty="0"/>
              <a:t> Scala</a:t>
            </a:r>
            <a:endParaRPr dirty="0"/>
          </a:p>
          <a:p>
            <a:pPr lvl="1">
              <a:defRPr/>
            </a:pPr>
            <a:r>
              <a:rPr lang="en-US" dirty="0"/>
              <a:t>Location </a:t>
            </a:r>
            <a:r>
              <a:rPr lang="zh-CN" altLang="en-US" dirty="0"/>
              <a:t>不要有</a:t>
            </a:r>
            <a:r>
              <a:rPr lang="zh-CN" dirty="0"/>
              <a:t>中文</a:t>
            </a:r>
            <a:r>
              <a:rPr lang="zh-CN" altLang="en-US" dirty="0"/>
              <a:t>路径</a:t>
            </a:r>
            <a:endParaRPr lang="en-US" dirty="0"/>
          </a:p>
          <a:p>
            <a:pPr lvl="1">
              <a:defRPr/>
            </a:pPr>
            <a:r>
              <a:rPr lang="en-US" dirty="0" err="1"/>
              <a:t>Sbt</a:t>
            </a:r>
            <a:endParaRPr lang="en-US" dirty="0"/>
          </a:p>
          <a:p>
            <a:pPr lvl="1">
              <a:defRPr/>
            </a:pPr>
            <a:r>
              <a:rPr lang="en-US" dirty="0"/>
              <a:t>Openjdk-22</a:t>
            </a:r>
            <a:endParaRPr dirty="0"/>
          </a:p>
          <a:p>
            <a:pPr lvl="1">
              <a:defRPr/>
            </a:pPr>
            <a:r>
              <a:rPr lang="en-US" dirty="0" err="1"/>
              <a:t>Sbt</a:t>
            </a:r>
            <a:r>
              <a:rPr lang="en-US" dirty="0"/>
              <a:t> 1.10.0</a:t>
            </a:r>
            <a:endParaRPr dirty="0"/>
          </a:p>
          <a:p>
            <a:pPr lvl="1">
              <a:defRPr/>
            </a:pPr>
            <a:r>
              <a:rPr lang="en-US" dirty="0"/>
              <a:t>Scala 3.4.2</a:t>
            </a:r>
            <a:endParaRPr dirty="0"/>
          </a:p>
          <a:p>
            <a:pPr lvl="1">
              <a:defRPr/>
            </a:pPr>
            <a:endParaRPr lang="en-US" dirty="0"/>
          </a:p>
          <a:p>
            <a:pPr>
              <a:defRPr/>
            </a:pPr>
            <a:r>
              <a:rPr lang="zh-CN" altLang="en-US" dirty="0"/>
              <a:t>或者选一个别的</a:t>
            </a:r>
            <a:r>
              <a:rPr lang="en-US" dirty="0"/>
              <a:t>Scala 3.XX</a:t>
            </a:r>
            <a:r>
              <a:rPr lang="zh-CN" altLang="en-US" dirty="0"/>
              <a:t>的版本也可以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147460" y="1378633"/>
            <a:ext cx="6839757" cy="53246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安装</a:t>
            </a:r>
            <a:r>
              <a:rPr lang="en-US" dirty="0"/>
              <a:t> </a:t>
            </a:r>
            <a:r>
              <a:rPr lang="en-US" dirty="0" err="1"/>
              <a:t>sbt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3203917" cy="4351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你可能需要下载</a:t>
            </a:r>
            <a:r>
              <a:rPr lang="en-US" dirty="0"/>
              <a:t>Scala SDK 3.4.2</a:t>
            </a:r>
            <a:endParaRPr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Import </a:t>
            </a:r>
            <a:r>
              <a:rPr lang="en-US" dirty="0" err="1"/>
              <a:t>sbt</a:t>
            </a:r>
            <a:r>
              <a:rPr lang="en-US" dirty="0"/>
              <a:t> project </a:t>
            </a:r>
            <a:r>
              <a:rPr lang="zh-CN" altLang="en-US" dirty="0"/>
              <a:t>会需要开</a:t>
            </a:r>
            <a:r>
              <a:rPr lang="en-US" dirty="0"/>
              <a:t>VPN, </a:t>
            </a:r>
            <a:r>
              <a:rPr lang="zh-CN" altLang="en-US" dirty="0"/>
              <a:t>而且如果你的</a:t>
            </a:r>
            <a:r>
              <a:rPr lang="en-US" altLang="zh-CN" dirty="0"/>
              <a:t>VPN</a:t>
            </a:r>
            <a:r>
              <a:rPr lang="zh-CN" altLang="en-US" dirty="0"/>
              <a:t>不给力，可能需要等几个小时</a:t>
            </a:r>
            <a:endParaRPr 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145331" y="1055077"/>
            <a:ext cx="7900231" cy="474784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试着跑一下</a:t>
            </a:r>
            <a:r>
              <a:rPr lang="en-US" dirty="0"/>
              <a:t> hello world!</a:t>
            </a:r>
            <a:endParaRPr lang="zh-CN" dirty="0"/>
          </a:p>
        </p:txBody>
      </p:sp>
      <p:sp>
        <p:nvSpPr>
          <p:cNvPr id="5" name="内容占位符 4"/>
          <p:cNvSpPr txBox="1">
            <a:spLocks noGrp="1"/>
          </p:cNvSpPr>
          <p:nvPr>
            <p:ph idx="1"/>
          </p:nvPr>
        </p:nvSpPr>
        <p:spPr bwMode="auto">
          <a:xfrm>
            <a:off x="838200" y="1825625"/>
            <a:ext cx="3897313" cy="4226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如果你找不到绿箭头，那么把</a:t>
            </a:r>
            <a:r>
              <a:rPr lang="en-US" altLang="zh-CN" b="1" dirty="0" err="1">
                <a:solidFill>
                  <a:srgbClr val="FF0000"/>
                </a:solidFill>
              </a:rPr>
              <a:t>Intellij</a:t>
            </a:r>
            <a:r>
              <a:rPr lang="zh-CN" altLang="en-US" b="1" dirty="0">
                <a:solidFill>
                  <a:srgbClr val="FF0000"/>
                </a:solidFill>
              </a:rPr>
              <a:t>关掉</a:t>
            </a:r>
            <a:endParaRPr dirty="0"/>
          </a:p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删掉</a:t>
            </a:r>
            <a:r>
              <a:rPr lang="en-US" b="1" dirty="0">
                <a:solidFill>
                  <a:srgbClr val="FF0000"/>
                </a:solidFill>
              </a:rPr>
              <a:t>.idea</a:t>
            </a:r>
            <a:r>
              <a:rPr lang="zh-CN" altLang="en-US" b="1" dirty="0">
                <a:solidFill>
                  <a:srgbClr val="FF0000"/>
                </a:solidFill>
              </a:rPr>
              <a:t>文件夹，再打开</a:t>
            </a:r>
            <a:r>
              <a:rPr lang="en-US" altLang="zh-CN" b="1" dirty="0" err="1">
                <a:solidFill>
                  <a:srgbClr val="FF0000"/>
                </a:solidFill>
              </a:rPr>
              <a:t>Intellij</a:t>
            </a:r>
            <a:endParaRPr dirty="0"/>
          </a:p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如果你还有问题，推荐删除</a:t>
            </a:r>
            <a:r>
              <a:rPr lang="en-US" b="1" dirty="0">
                <a:solidFill>
                  <a:srgbClr val="FF0000"/>
                </a:solidFill>
              </a:rPr>
              <a:t> c:/Users/xxxx/AppData/Local/Coursier/cache/v1/, </a:t>
            </a:r>
            <a:r>
              <a:rPr lang="zh-CN" altLang="en-US" b="1" dirty="0">
                <a:solidFill>
                  <a:srgbClr val="FF0000"/>
                </a:solidFill>
              </a:rPr>
              <a:t>然后重新安装</a:t>
            </a:r>
            <a:r>
              <a:rPr lang="en-US" b="1" dirty="0">
                <a:solidFill>
                  <a:srgbClr val="FF0000"/>
                </a:solidFill>
              </a:rPr>
              <a:t> SBT</a:t>
            </a:r>
            <a:endParaRPr lang="zh-CN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670120" y="1389038"/>
            <a:ext cx="5683680" cy="303759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144087" y="4596824"/>
            <a:ext cx="6639437" cy="215273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安装</a:t>
            </a:r>
            <a:r>
              <a:rPr lang="en-US" altLang="zh-CN" dirty="0" err="1"/>
              <a:t>postgresql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838200" y="1825624"/>
            <a:ext cx="10515600" cy="488935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Postgresql</a:t>
            </a:r>
            <a:r>
              <a:rPr lang="zh-CN" altLang="en-US" dirty="0"/>
              <a:t>最新版本 </a:t>
            </a:r>
            <a:r>
              <a:rPr lang="en-US" altLang="zh-CN" dirty="0"/>
              <a:t>18.6</a:t>
            </a:r>
            <a:endParaRPr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zh-CN" altLang="en-US" dirty="0"/>
              <a:t>然后运行</a:t>
            </a:r>
            <a:r>
              <a:rPr lang="en-US" altLang="zh-CN" dirty="0"/>
              <a:t>pgadmin4</a:t>
            </a:r>
            <a:endParaRPr lang="en-US" dirty="0"/>
          </a:p>
          <a:p>
            <a:pPr>
              <a:defRPr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C0649-5374-D57E-09FE-41AC70C4C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注册</a:t>
            </a:r>
            <a:r>
              <a:rPr lang="en-US" altLang="zh-CN" dirty="0"/>
              <a:t>GPT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E34E70-48DC-1BB2-28CA-D90C309B9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首先，注册一个</a:t>
            </a:r>
            <a:r>
              <a:rPr lang="en-US" altLang="zh-CN" dirty="0"/>
              <a:t>163</a:t>
            </a:r>
            <a:r>
              <a:rPr lang="zh-CN" altLang="en-US" dirty="0"/>
              <a:t>邮箱，可以使用手机注册</a:t>
            </a:r>
            <a:endParaRPr lang="en-US" altLang="zh-CN" dirty="0"/>
          </a:p>
          <a:p>
            <a:r>
              <a:rPr lang="zh-CN" altLang="en-US" dirty="0"/>
              <a:t>然后，使用</a:t>
            </a:r>
            <a:r>
              <a:rPr lang="en-US" altLang="zh-CN" dirty="0"/>
              <a:t>VPN</a:t>
            </a:r>
            <a:r>
              <a:rPr lang="zh-CN" altLang="en-US" dirty="0"/>
              <a:t>登录</a:t>
            </a:r>
            <a:r>
              <a:rPr lang="en-US" altLang="zh-CN" dirty="0"/>
              <a:t>chat.openai.com</a:t>
            </a:r>
          </a:p>
          <a:p>
            <a:r>
              <a:rPr lang="zh-CN" altLang="en-US" dirty="0"/>
              <a:t>使用你的</a:t>
            </a:r>
            <a:r>
              <a:rPr lang="en-US" altLang="zh-CN" dirty="0"/>
              <a:t>163</a:t>
            </a:r>
            <a:r>
              <a:rPr lang="zh-CN" altLang="en-US" dirty="0"/>
              <a:t>邮箱注册新的账户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注册成功之后，助教会集中获取</a:t>
            </a:r>
            <a:r>
              <a:rPr lang="en-US" altLang="zh-CN" dirty="0"/>
              <a:t>session token</a:t>
            </a:r>
          </a:p>
          <a:p>
            <a:pPr lvl="1"/>
            <a:r>
              <a:rPr lang="en-US" altLang="zh-CN" dirty="0">
                <a:hlinkClick r:id="rId3"/>
              </a:rPr>
              <a:t>https://chatgpt.com/api/auth/session</a:t>
            </a:r>
            <a:endParaRPr lang="en-US" altLang="zh-CN" dirty="0"/>
          </a:p>
          <a:p>
            <a:pPr lvl="1"/>
            <a:r>
              <a:rPr lang="zh-CN" altLang="en-US" dirty="0"/>
              <a:t>把账户所有信息提供给代充（</a:t>
            </a:r>
            <a:r>
              <a:rPr lang="zh-CN" altLang="en-US" b="1" dirty="0">
                <a:solidFill>
                  <a:srgbClr val="FF0000"/>
                </a:solidFill>
              </a:rPr>
              <a:t>危险！！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CFB78A-ABC9-2B51-0604-243066E45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781" y="75500"/>
            <a:ext cx="3847496" cy="28522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A6E1D5-2A4C-5CE7-8F7E-36F2C93E28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104" y="3217382"/>
            <a:ext cx="2950354" cy="33094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51399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30EDC-B884-475D-DD89-C3B5515F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安装</a:t>
            </a:r>
            <a:r>
              <a:rPr lang="en-US" altLang="zh-CN" dirty="0"/>
              <a:t>codex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C4961A-3832-65C6-A097-5C0D0A92C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477" y="1754318"/>
            <a:ext cx="10515600" cy="4351338"/>
          </a:xfrm>
        </p:spPr>
        <p:txBody>
          <a:bodyPr/>
          <a:lstStyle/>
          <a:p>
            <a:r>
              <a:rPr lang="en-US" altLang="zh-CN" dirty="0"/>
              <a:t>Windows</a:t>
            </a:r>
            <a:r>
              <a:rPr lang="zh-CN" altLang="en-US" dirty="0"/>
              <a:t>桌面版</a:t>
            </a:r>
            <a:endParaRPr lang="en-US" altLang="zh-CN" dirty="0"/>
          </a:p>
          <a:p>
            <a:pPr lvl="1"/>
            <a:r>
              <a:rPr lang="en-US" altLang="zh-CN" dirty="0">
                <a:hlinkClick r:id="rId3"/>
              </a:rPr>
              <a:t>https://chatgpt.com/zh-Hans-CN/download/</a:t>
            </a:r>
            <a:endParaRPr lang="en-US" altLang="zh-CN" dirty="0"/>
          </a:p>
          <a:p>
            <a:pPr lvl="1"/>
            <a:r>
              <a:rPr lang="zh-CN" altLang="en-US" dirty="0"/>
              <a:t>下载安装即可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Linux</a:t>
            </a:r>
            <a:r>
              <a:rPr lang="zh-CN" altLang="en-US" dirty="0"/>
              <a:t>版本</a:t>
            </a:r>
            <a:endParaRPr lang="en-US" altLang="zh-CN" dirty="0"/>
          </a:p>
          <a:p>
            <a:pPr lvl="1"/>
            <a:r>
              <a:rPr lang="zh-CN" altLang="en-US" dirty="0"/>
              <a:t>进入</a:t>
            </a:r>
            <a:r>
              <a:rPr lang="en-US" altLang="zh-CN" dirty="0" err="1"/>
              <a:t>wsl</a:t>
            </a:r>
            <a:endParaRPr lang="en-US" altLang="zh-CN" dirty="0"/>
          </a:p>
          <a:p>
            <a:pPr lvl="1"/>
            <a:r>
              <a:rPr lang="zh-CN" altLang="en-US" dirty="0"/>
              <a:t>输入： </a:t>
            </a:r>
            <a:r>
              <a:rPr lang="en-US" altLang="zh-CN" dirty="0"/>
              <a:t>curl –</a:t>
            </a:r>
            <a:r>
              <a:rPr lang="en-US" altLang="zh-CN" dirty="0" err="1"/>
              <a:t>fsSL</a:t>
            </a:r>
            <a:r>
              <a:rPr lang="en-US" altLang="zh-CN" dirty="0"/>
              <a:t> </a:t>
            </a:r>
            <a:r>
              <a:rPr lang="en-US" altLang="zh-CN" dirty="0">
                <a:hlinkClick r:id="rId4"/>
              </a:rPr>
              <a:t>https://chatgpt.com/codex/install.sh</a:t>
            </a:r>
            <a:r>
              <a:rPr lang="en-US" altLang="zh-CN" dirty="0"/>
              <a:t> | </a:t>
            </a:r>
            <a:r>
              <a:rPr lang="en-US" altLang="zh-CN" dirty="0" err="1"/>
              <a:t>sh</a:t>
            </a:r>
            <a:endParaRPr lang="en-US" altLang="zh-CN" dirty="0"/>
          </a:p>
          <a:p>
            <a:pPr lvl="1"/>
            <a:r>
              <a:rPr lang="zh-CN" altLang="en-US" dirty="0"/>
              <a:t>然后输入</a:t>
            </a:r>
            <a:r>
              <a:rPr lang="en-US" altLang="zh-CN" dirty="0"/>
              <a:t>codex</a:t>
            </a:r>
            <a:r>
              <a:rPr lang="zh-CN" altLang="en-US" dirty="0"/>
              <a:t>即可运行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F05EBE-E12D-7927-70A8-2203CE1F3B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485" y="526794"/>
            <a:ext cx="3926514" cy="29022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54347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8200" y="2766218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zh-CN" altLang="en-US" dirty="0"/>
              <a:t>前端</a:t>
            </a:r>
            <a:endParaRPr lang="zh-CN" dirty="0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前端</a:t>
            </a:r>
            <a:r>
              <a:rPr lang="en-US" dirty="0"/>
              <a:t> 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279889" y="1812437"/>
            <a:ext cx="3619499" cy="4351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推荐安装</a:t>
            </a:r>
            <a:r>
              <a:rPr lang="en-US" dirty="0"/>
              <a:t> </a:t>
            </a:r>
            <a:r>
              <a:rPr lang="en-US" dirty="0" err="1"/>
              <a:t>nodejs</a:t>
            </a:r>
            <a:r>
              <a:rPr lang="en-US" dirty="0"/>
              <a:t>  24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15EABB-DCAC-AABC-F471-A91FB46FE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027" y="681037"/>
            <a:ext cx="8340973" cy="4800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常见问题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如果你有任何问题，请你尝试问</a:t>
            </a:r>
            <a:r>
              <a:rPr lang="en-US" altLang="zh-CN" dirty="0"/>
              <a:t>GPT</a:t>
            </a:r>
            <a:r>
              <a:rPr lang="zh-CN" altLang="en-US" dirty="0"/>
              <a:t>，或者</a:t>
            </a:r>
            <a:r>
              <a:rPr lang="en-US" altLang="zh-CN" dirty="0"/>
              <a:t>Kimi, </a:t>
            </a:r>
            <a:r>
              <a:rPr lang="en-US" altLang="zh-CN" dirty="0" err="1"/>
              <a:t>Deepseek</a:t>
            </a:r>
            <a:r>
              <a:rPr lang="en-US" altLang="zh-CN" dirty="0"/>
              <a:t>, GLM</a:t>
            </a:r>
            <a:r>
              <a:rPr lang="zh-CN" altLang="en-US" dirty="0"/>
              <a:t>等模型</a:t>
            </a:r>
            <a:endParaRPr lang="en-US" altLang="zh-CN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zh-CN" altLang="en-US" dirty="0"/>
              <a:t>例如，如何运行后端系统？如何运行前端系统？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让模型帮你干就好了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常见问题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838200" y="1499053"/>
            <a:ext cx="10515600" cy="4351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后端如果你有很多微服务，一次打开一个，不要一次打开很多个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项目分析会失效</a:t>
            </a:r>
            <a:endParaRPr 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90098" y="2461858"/>
            <a:ext cx="2499093" cy="429505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677913" y="2521040"/>
            <a:ext cx="5182309" cy="417668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4195B-54DF-4FBB-9997-AC05609B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代码语言简介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8640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6D41B-333C-40CD-9184-3F00C369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前端和后端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C5B40B-2D8A-4276-BE13-02BC5105D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30333" cy="4895498"/>
          </a:xfrm>
        </p:spPr>
        <p:txBody>
          <a:bodyPr>
            <a:normAutofit/>
          </a:bodyPr>
          <a:lstStyle/>
          <a:p>
            <a:r>
              <a:rPr lang="zh-CN" altLang="en-US" dirty="0"/>
              <a:t>前端</a:t>
            </a:r>
            <a:r>
              <a:rPr lang="en-US" altLang="zh-CN" dirty="0"/>
              <a:t>: typescript + react</a:t>
            </a:r>
          </a:p>
          <a:p>
            <a:pPr lvl="1"/>
            <a:r>
              <a:rPr lang="zh-CN" altLang="en-US" dirty="0"/>
              <a:t>主要关注数据的展示</a:t>
            </a:r>
            <a:endParaRPr lang="en-US" altLang="zh-CN" dirty="0"/>
          </a:p>
          <a:p>
            <a:pPr lvl="1"/>
            <a:r>
              <a:rPr lang="en-US" altLang="zh-CN" dirty="0" err="1"/>
              <a:t>Css</a:t>
            </a:r>
            <a:r>
              <a:rPr lang="zh-CN" altLang="en-US" dirty="0"/>
              <a:t>风格，人机交互等等</a:t>
            </a:r>
            <a:endParaRPr lang="en-US" altLang="zh-CN" dirty="0"/>
          </a:p>
          <a:p>
            <a:pPr lvl="1"/>
            <a:r>
              <a:rPr lang="zh-CN" altLang="en-US" dirty="0"/>
              <a:t>有“时间线”的概念</a:t>
            </a:r>
            <a:endParaRPr lang="en-US" altLang="zh-CN" dirty="0"/>
          </a:p>
          <a:p>
            <a:r>
              <a:rPr lang="zh-CN" altLang="en-US" dirty="0"/>
              <a:t>后端</a:t>
            </a:r>
            <a:r>
              <a:rPr lang="en-US" altLang="zh-CN" dirty="0"/>
              <a:t>: scala</a:t>
            </a:r>
          </a:p>
          <a:p>
            <a:pPr lvl="1"/>
            <a:r>
              <a:rPr lang="zh-CN" altLang="en-US" dirty="0"/>
              <a:t>关注纯函数</a:t>
            </a:r>
            <a:endParaRPr lang="en-US" altLang="zh-CN" dirty="0"/>
          </a:p>
          <a:p>
            <a:pPr lvl="1"/>
            <a:r>
              <a:rPr lang="zh-CN" altLang="en-US" dirty="0"/>
              <a:t>没有“脏东西”</a:t>
            </a:r>
            <a:endParaRPr lang="en-US" altLang="zh-CN" dirty="0"/>
          </a:p>
          <a:p>
            <a:pPr lvl="2"/>
            <a:r>
              <a:rPr lang="zh-CN" altLang="en-US" dirty="0"/>
              <a:t>没有脏东西是不可能的！看怎么包装和处理</a:t>
            </a:r>
            <a:endParaRPr lang="en-US" altLang="zh-CN" dirty="0"/>
          </a:p>
          <a:p>
            <a:pPr lvl="1"/>
            <a:r>
              <a:rPr lang="zh-CN" altLang="en-US" dirty="0"/>
              <a:t>分布式计算</a:t>
            </a:r>
            <a:endParaRPr lang="en-US" altLang="zh-CN" dirty="0"/>
          </a:p>
          <a:p>
            <a:r>
              <a:rPr lang="zh-CN" altLang="en-US" dirty="0"/>
              <a:t>不同的优化对象</a:t>
            </a:r>
            <a:endParaRPr lang="en-US" altLang="zh-CN" dirty="0"/>
          </a:p>
        </p:txBody>
      </p:sp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342F9144-6A2A-4748-9782-CE3CB280E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432" y="422533"/>
            <a:ext cx="2597856" cy="259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e the source image">
            <a:extLst>
              <a:ext uri="{FF2B5EF4-FFF2-40B4-BE49-F238E27FC236}">
                <a16:creationId xmlns:a16="http://schemas.microsoft.com/office/drawing/2014/main" id="{7D0A44FC-06D6-499C-8E32-54E64BE4F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1181" y="520988"/>
            <a:ext cx="2511584" cy="251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See the source image">
            <a:extLst>
              <a:ext uri="{FF2B5EF4-FFF2-40B4-BE49-F238E27FC236}">
                <a16:creationId xmlns:a16="http://schemas.microsoft.com/office/drawing/2014/main" id="{E80B2AE3-E5B4-4AB6-809B-94C2477AC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997" y="4034137"/>
            <a:ext cx="4203877" cy="1247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170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5C568-F1C0-32FE-6DEB-EB48DD99E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B2F767F-6487-3CF7-BE94-841C29E325F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签到：黑板上写的是什么？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32E22B-111F-C3D1-A489-171A50D03D2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E3913E-03B8-E20A-07CF-F094E2324CC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5ED83E7-5A3C-94D0-105F-606C33746024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50CE9D4-75DD-5355-7ADA-462CBCE6D9E8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F356EAA-EBF8-1277-D411-80FA08D4524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F8E73A5-9BF5-3D41-61C5-6708DA856E4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3E37FC9-2874-4282-425B-1AE603DC8B2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74F73D-0BFF-9751-497A-9E7AA9C06CD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F69D3EA-F47A-B555-E122-DA45C572A362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481434F-5356-A2B5-1199-0B20A325C39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322F3CA7-7164-62D0-01D2-A3D6363B3C1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AD2FE1E9-1F86-B47F-4E2B-F3678D9062D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3AA675ED-0CB1-D217-4D2D-162ECE74608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3" name="TipText">
              <a:extLst>
                <a:ext uri="{FF2B5EF4-FFF2-40B4-BE49-F238E27FC236}">
                  <a16:creationId xmlns:a16="http://schemas.microsoft.com/office/drawing/2014/main" id="{602F479B-4018-493E-36D9-8CBBA797B3F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E664EEF-EA20-63BD-A79F-16356209AE3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329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CA099D1-0656-2B75-82C0-3556E0131C0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75768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请填写你的学号，例如：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2025XXXXXX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BA34BEB-EFFA-4BEA-97E3-DDE40AB9C53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CEB79A5-84BF-E9F1-4519-081665FC204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4B628181-4AF6-E464-C58C-94FFBC584E6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FA38771-9AD2-C72E-D866-A31E9677CD9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833EF939-64C2-CDC6-DD13-92DEC3EADDF4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E7430449-D878-DBBD-6CA1-148A20A0746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ED17614-FF09-4FBE-E192-13DE4277DA8B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157689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D4195B-54DF-4FBB-9997-AC05609B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Scala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3822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71CA50-7AB0-4D2E-8B36-06E2666B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Scala 3 </a:t>
            </a:r>
            <a:r>
              <a:rPr lang="zh-CN" altLang="en-US" dirty="0"/>
              <a:t>入门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F82A1F-F0CB-4A7D-8905-11CEDD016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Scala </a:t>
            </a:r>
            <a:r>
              <a:rPr lang="zh-CN" altLang="en-US" dirty="0"/>
              <a:t>是一种非常强大、优美的语言</a:t>
            </a:r>
            <a:endParaRPr lang="en-US" altLang="zh-CN" dirty="0"/>
          </a:p>
          <a:p>
            <a:pPr lvl="1"/>
            <a:r>
              <a:rPr lang="zh-CN" altLang="en-US" dirty="0"/>
              <a:t>支持各种各样的风格，比如</a:t>
            </a:r>
            <a:r>
              <a:rPr lang="en-US" altLang="zh-CN" dirty="0"/>
              <a:t>C</a:t>
            </a:r>
            <a:r>
              <a:rPr lang="zh-CN" altLang="en-US" dirty="0"/>
              <a:t>风格、函数式、面向对象等等</a:t>
            </a:r>
            <a:endParaRPr lang="en-US" altLang="zh-CN" dirty="0"/>
          </a:p>
          <a:p>
            <a:pPr lvl="1"/>
            <a:r>
              <a:rPr lang="zh-CN" altLang="en-US" dirty="0"/>
              <a:t>官方网站：</a:t>
            </a:r>
            <a:r>
              <a:rPr lang="en-US" altLang="zh-CN" dirty="0"/>
              <a:t>https://www.scala-lang.org/</a:t>
            </a:r>
          </a:p>
          <a:p>
            <a:endParaRPr lang="en-US" altLang="zh-CN" dirty="0"/>
          </a:p>
          <a:p>
            <a:r>
              <a:rPr lang="zh-CN" altLang="en-US" dirty="0"/>
              <a:t>我只教我认为最好的风格</a:t>
            </a:r>
            <a:endParaRPr lang="en-US" altLang="zh-CN" dirty="0"/>
          </a:p>
          <a:p>
            <a:pPr lvl="1"/>
            <a:r>
              <a:rPr lang="zh-CN" altLang="en-US" dirty="0"/>
              <a:t>最适合</a:t>
            </a:r>
            <a:r>
              <a:rPr lang="en-US" altLang="zh-CN" dirty="0"/>
              <a:t>AI</a:t>
            </a:r>
            <a:r>
              <a:rPr lang="zh-CN" altLang="en-US" dirty="0"/>
              <a:t>来写</a:t>
            </a:r>
            <a:endParaRPr lang="en-US" altLang="zh-CN" dirty="0"/>
          </a:p>
          <a:p>
            <a:pPr lvl="1"/>
            <a:r>
              <a:rPr lang="zh-CN" altLang="en-US" dirty="0"/>
              <a:t>最适合人类来检查</a:t>
            </a:r>
            <a:endParaRPr lang="en-US" altLang="zh-CN" dirty="0"/>
          </a:p>
          <a:p>
            <a:pPr lvl="1"/>
            <a:r>
              <a:rPr lang="zh-CN" altLang="en-US" dirty="0"/>
              <a:t>衣柜收纳学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1EFB21-72F0-F4AB-D7BA-8580E0830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426" y="2892297"/>
            <a:ext cx="3648663" cy="37235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0144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声明式编程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6156" y="1601421"/>
            <a:ext cx="10515600" cy="4351338"/>
          </a:xfrm>
        </p:spPr>
        <p:txBody>
          <a:bodyPr/>
          <a:lstStyle/>
          <a:p>
            <a:r>
              <a:rPr lang="zh-CN" altLang="en-US" dirty="0"/>
              <a:t>只关心你</a:t>
            </a:r>
            <a:r>
              <a:rPr lang="zh-CN" altLang="en-US" b="1" dirty="0"/>
              <a:t>要什么</a:t>
            </a:r>
            <a:r>
              <a:rPr lang="zh-CN" altLang="en-US" dirty="0"/>
              <a:t>，不关心</a:t>
            </a:r>
            <a:r>
              <a:rPr lang="zh-CN" altLang="en-US" b="1" dirty="0"/>
              <a:t>怎么实现</a:t>
            </a:r>
            <a:endParaRPr lang="en-US" altLang="zh-CN" b="1" dirty="0"/>
          </a:p>
          <a:p>
            <a:r>
              <a:rPr lang="zh-CN" altLang="en-US" dirty="0"/>
              <a:t>贯穿全项目的理念，从代码每行怎么写，到项目如何组织</a:t>
            </a:r>
            <a:endParaRPr lang="en-US" altLang="zh-CN" dirty="0"/>
          </a:p>
          <a:p>
            <a:pPr lvl="1"/>
            <a:r>
              <a:rPr lang="zh-CN" altLang="en-US" dirty="0"/>
              <a:t>和代码怎么写没关系，和表达方式有关系</a:t>
            </a:r>
            <a:endParaRPr lang="en-US" altLang="zh-CN" dirty="0"/>
          </a:p>
          <a:p>
            <a:pPr lvl="1"/>
            <a:r>
              <a:rPr lang="zh-CN" altLang="en-US" dirty="0"/>
              <a:t>看不太懂没关系，一张白纸好作画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23" y="3347602"/>
            <a:ext cx="5180462" cy="343626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627" y="4466294"/>
            <a:ext cx="5389548" cy="5994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4216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C2D1F4-9DA0-4575-A2D1-8E5E4DD9B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val</a:t>
            </a:r>
            <a:r>
              <a:rPr lang="en-US" altLang="zh-CN" dirty="0"/>
              <a:t> </a:t>
            </a:r>
            <a:r>
              <a:rPr lang="zh-CN" altLang="en-US" dirty="0"/>
              <a:t>和</a:t>
            </a:r>
            <a:r>
              <a:rPr lang="en-US" altLang="zh-CN" dirty="0"/>
              <a:t> var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C43413-9292-4C92-A281-5B01DBC01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7086"/>
          </a:xfrm>
        </p:spPr>
        <p:txBody>
          <a:bodyPr/>
          <a:lstStyle/>
          <a:p>
            <a:r>
              <a:rPr lang="en-US" altLang="zh-CN" dirty="0" err="1"/>
              <a:t>val</a:t>
            </a:r>
            <a:r>
              <a:rPr lang="en-US" altLang="zh-CN" dirty="0"/>
              <a:t>: value, </a:t>
            </a:r>
            <a:r>
              <a:rPr lang="zh-CN" altLang="en-US" dirty="0"/>
              <a:t>值，不可变</a:t>
            </a:r>
            <a:endParaRPr lang="en-US" altLang="zh-CN" dirty="0"/>
          </a:p>
          <a:p>
            <a:r>
              <a:rPr lang="en-US" altLang="zh-CN" dirty="0"/>
              <a:t>var: variable</a:t>
            </a:r>
            <a:r>
              <a:rPr lang="zh-CN" altLang="en-US" dirty="0"/>
              <a:t>，变量，可变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在我们的系统中，不要使用变量！</a:t>
            </a:r>
            <a:endParaRPr lang="en-US" altLang="zh-CN" dirty="0"/>
          </a:p>
          <a:p>
            <a:pPr lvl="1"/>
            <a:r>
              <a:rPr lang="zh-CN" altLang="en-US" dirty="0"/>
              <a:t>因为没有变量，所以你的代码会更容易理解，不会出错</a:t>
            </a:r>
            <a:endParaRPr lang="en-US" altLang="zh-CN" dirty="0"/>
          </a:p>
          <a:p>
            <a:pPr lvl="1"/>
            <a:r>
              <a:rPr lang="en-US" altLang="zh-CN" dirty="0"/>
              <a:t>“</a:t>
            </a:r>
            <a:r>
              <a:rPr lang="zh-CN" altLang="en-US" dirty="0"/>
              <a:t>事件溯源</a:t>
            </a:r>
            <a:r>
              <a:rPr lang="en-US" altLang="zh-CN" dirty="0"/>
              <a:t>”</a:t>
            </a:r>
            <a:r>
              <a:rPr lang="zh-CN" altLang="en-US" dirty="0"/>
              <a:t>类型的想法，保留中间的每个步骤</a:t>
            </a:r>
            <a:endParaRPr lang="en-US" altLang="zh-CN" dirty="0"/>
          </a:p>
          <a:p>
            <a:pPr lvl="1"/>
            <a:r>
              <a:rPr lang="en-US" altLang="zh-CN" dirty="0"/>
              <a:t>value1</a:t>
            </a:r>
            <a:r>
              <a:rPr lang="en-US" altLang="zh-CN" dirty="0">
                <a:sym typeface="Wingdings" panose="05000000000000000000" pitchFamily="2" charset="2"/>
              </a:rPr>
              <a:t>value2value3value4</a:t>
            </a:r>
          </a:p>
          <a:p>
            <a:pPr lvl="1"/>
            <a:r>
              <a:rPr lang="zh-CN" altLang="en-US" dirty="0"/>
              <a:t>而不是：</a:t>
            </a:r>
            <a:r>
              <a:rPr lang="en-US" altLang="zh-CN" dirty="0" err="1"/>
              <a:t>value</a:t>
            </a:r>
            <a:r>
              <a:rPr lang="en-US" altLang="zh-CN" dirty="0" err="1">
                <a:sym typeface="Wingdings" panose="05000000000000000000" pitchFamily="2" charset="2"/>
              </a:rPr>
              <a:t>valuevaluevalue</a:t>
            </a:r>
            <a:endParaRPr lang="en-US" altLang="zh-CN" dirty="0">
              <a:sym typeface="Wingdings" panose="05000000000000000000" pitchFamily="2" charset="2"/>
            </a:endParaRPr>
          </a:p>
          <a:p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变量是洪水猛兽，千万不要用</a:t>
            </a:r>
            <a:endParaRPr lang="en-US" altLang="zh-CN" dirty="0">
              <a:sym typeface="Wingdings" panose="05000000000000000000" pitchFamily="2" charset="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749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2D09F-3CF5-4143-93E6-8EA3EF3CC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基础类型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3A8CEC-58C6-4D62-BAE8-33756FDF9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err="1"/>
              <a:t>val</a:t>
            </a:r>
            <a:r>
              <a:rPr lang="en-US" altLang="zh-CN" dirty="0"/>
              <a:t> x: Int =1  //</a:t>
            </a:r>
            <a:r>
              <a:rPr lang="zh-CN" altLang="en-US" dirty="0">
                <a:solidFill>
                  <a:sysClr val="windowText" lastClr="000000"/>
                </a:solidFill>
              </a:rPr>
              <a:t>显式定义类型</a:t>
            </a:r>
            <a:endParaRPr lang="en-US" altLang="zh-CN" dirty="0">
              <a:solidFill>
                <a:sysClr val="windowText" lastClr="000000"/>
              </a:solidFill>
            </a:endParaRPr>
          </a:p>
          <a:p>
            <a:r>
              <a:rPr lang="en-US" altLang="zh-CN" dirty="0" err="1"/>
              <a:t>val</a:t>
            </a:r>
            <a:r>
              <a:rPr lang="en-US" altLang="zh-CN" dirty="0"/>
              <a:t> x = 1   //</a:t>
            </a:r>
            <a:r>
              <a:rPr lang="zh-CN" altLang="en-US" dirty="0">
                <a:solidFill>
                  <a:sysClr val="windowText" lastClr="000000"/>
                </a:solidFill>
              </a:rPr>
              <a:t>隐式定义类型，编译器算出类型</a:t>
            </a:r>
            <a:endParaRPr lang="en-US" altLang="zh-CN" dirty="0">
              <a:solidFill>
                <a:sysClr val="windowText" lastClr="000000"/>
              </a:solidFill>
            </a:endParaRPr>
          </a:p>
          <a:p>
            <a:endParaRPr lang="en-US" altLang="zh-CN" dirty="0">
              <a:solidFill>
                <a:sysClr val="windowText" lastClr="000000"/>
              </a:solidFill>
            </a:endParaRPr>
          </a:p>
          <a:p>
            <a:r>
              <a:rPr lang="en-US" altLang="zh-CN" dirty="0" err="1">
                <a:solidFill>
                  <a:sysClr val="windowText" lastClr="000000"/>
                </a:solidFill>
              </a:rPr>
              <a:t>val</a:t>
            </a:r>
            <a:r>
              <a:rPr lang="en-US" altLang="zh-CN" dirty="0">
                <a:solidFill>
                  <a:sysClr val="windowText" lastClr="000000"/>
                </a:solidFill>
              </a:rPr>
              <a:t> x = 1000L // </a:t>
            </a:r>
            <a:r>
              <a:rPr lang="en-US" altLang="zh-CN" dirty="0" err="1">
                <a:solidFill>
                  <a:sysClr val="windowText" lastClr="000000"/>
                </a:solidFill>
              </a:rPr>
              <a:t>val</a:t>
            </a:r>
            <a:r>
              <a:rPr lang="en-US" altLang="zh-CN" dirty="0">
                <a:solidFill>
                  <a:sysClr val="windowText" lastClr="000000"/>
                </a:solidFill>
              </a:rPr>
              <a:t> x: Long = 1000</a:t>
            </a:r>
          </a:p>
          <a:p>
            <a:r>
              <a:rPr lang="en-US" altLang="zh-CN" dirty="0" err="1">
                <a:solidFill>
                  <a:sysClr val="windowText" lastClr="000000"/>
                </a:solidFill>
              </a:rPr>
              <a:t>val</a:t>
            </a:r>
            <a:r>
              <a:rPr lang="en-US" altLang="zh-CN" dirty="0">
                <a:solidFill>
                  <a:sysClr val="windowText" lastClr="000000"/>
                </a:solidFill>
              </a:rPr>
              <a:t> y = 2.2D   // </a:t>
            </a:r>
            <a:r>
              <a:rPr lang="en-US" altLang="zh-CN" dirty="0" err="1">
                <a:solidFill>
                  <a:sysClr val="windowText" lastClr="000000"/>
                </a:solidFill>
              </a:rPr>
              <a:t>val</a:t>
            </a:r>
            <a:r>
              <a:rPr lang="en-US" altLang="zh-CN" dirty="0">
                <a:solidFill>
                  <a:sysClr val="windowText" lastClr="000000"/>
                </a:solidFill>
              </a:rPr>
              <a:t> y: Double = 2.2</a:t>
            </a:r>
          </a:p>
          <a:p>
            <a:r>
              <a:rPr lang="en-US" altLang="zh-CN" dirty="0" err="1">
                <a:solidFill>
                  <a:sysClr val="windowText" lastClr="000000"/>
                </a:solidFill>
              </a:rPr>
              <a:t>val</a:t>
            </a:r>
            <a:r>
              <a:rPr lang="en-US" altLang="zh-CN" dirty="0">
                <a:solidFill>
                  <a:sysClr val="windowText" lastClr="000000"/>
                </a:solidFill>
              </a:rPr>
              <a:t> z = 3.3F    // </a:t>
            </a:r>
            <a:r>
              <a:rPr lang="en-US" altLang="zh-CN" dirty="0" err="1">
                <a:solidFill>
                  <a:sysClr val="windowText" lastClr="000000"/>
                </a:solidFill>
              </a:rPr>
              <a:t>val</a:t>
            </a:r>
            <a:r>
              <a:rPr lang="en-US" altLang="zh-CN" dirty="0">
                <a:solidFill>
                  <a:sysClr val="windowText" lastClr="000000"/>
                </a:solidFill>
              </a:rPr>
              <a:t> z: Float = 3.3</a:t>
            </a:r>
            <a:endParaRPr lang="zh-CN" altLang="en-US" dirty="0">
              <a:solidFill>
                <a:sysClr val="windowText" lastClr="000000"/>
              </a:solidFill>
            </a:endParaRPr>
          </a:p>
          <a:p>
            <a:endParaRPr lang="en-US" altLang="zh-CN" dirty="0"/>
          </a:p>
          <a:p>
            <a:r>
              <a:rPr lang="en-US" altLang="zh-CN" dirty="0" err="1"/>
              <a:t>val</a:t>
            </a:r>
            <a:r>
              <a:rPr lang="en-US" altLang="zh-CN" dirty="0"/>
              <a:t> quote= """</a:t>
            </a:r>
            <a:r>
              <a:rPr lang="zh-CN" altLang="en-US" dirty="0"/>
              <a:t>这是一个字符串</a:t>
            </a:r>
          </a:p>
          <a:p>
            <a:pPr marL="0" indent="0">
              <a:buNone/>
            </a:pPr>
            <a:r>
              <a:rPr lang="zh-CN" altLang="en-US" dirty="0"/>
              <a:t>                         可以换行写，只要你用三个引号包起来就行了</a:t>
            </a:r>
            <a:r>
              <a:rPr lang="en-US" altLang="zh-CN" dirty="0"/>
              <a:t>"""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107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C49333-6CBD-432E-A0FF-800F8388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 </a:t>
            </a:r>
            <a:r>
              <a:rPr lang="zh-CN" altLang="en-US" dirty="0"/>
              <a:t>循环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A76278-56B2-4B3A-BDAC-1C5208B68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478" y="2806295"/>
            <a:ext cx="10515600" cy="2567215"/>
          </a:xfrm>
        </p:spPr>
        <p:txBody>
          <a:bodyPr/>
          <a:lstStyle/>
          <a:p>
            <a:r>
              <a:rPr lang="zh-CN" altLang="en-US" dirty="0"/>
              <a:t>我们不准使用</a:t>
            </a:r>
            <a:r>
              <a:rPr lang="en-US" altLang="zh-CN" dirty="0"/>
              <a:t>for </a:t>
            </a:r>
            <a:r>
              <a:rPr lang="zh-CN" altLang="en-US" dirty="0"/>
              <a:t>循环，为什么？</a:t>
            </a:r>
            <a:endParaRPr lang="en-US" altLang="zh-CN" dirty="0"/>
          </a:p>
          <a:p>
            <a:r>
              <a:rPr lang="zh-CN" altLang="en-US" dirty="0"/>
              <a:t>使用 </a:t>
            </a:r>
            <a:r>
              <a:rPr lang="en-US" altLang="zh-CN" dirty="0"/>
              <a:t>map/</a:t>
            </a:r>
            <a:r>
              <a:rPr lang="en-US" altLang="zh-CN" dirty="0" err="1"/>
              <a:t>flatMap</a:t>
            </a:r>
            <a:r>
              <a:rPr lang="en-US" altLang="zh-CN" dirty="0"/>
              <a:t>/filter</a:t>
            </a:r>
            <a:r>
              <a:rPr lang="zh-CN" altLang="en-US" dirty="0"/>
              <a:t>更好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顺便提一句：什么是一个</a:t>
            </a:r>
            <a:r>
              <a:rPr lang="en-US" altLang="zh-CN" dirty="0"/>
              <a:t>collection</a:t>
            </a:r>
            <a:r>
              <a:rPr lang="zh-CN" altLang="en-US" dirty="0"/>
              <a:t>（数据包袱）？</a:t>
            </a: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21A1D77-7EB3-4DA5-A375-9D504D8E4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49" y="1649976"/>
            <a:ext cx="10032179" cy="8432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8138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C54C0-8EB9-48F9-B6D0-CCC81F8D7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.map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A23D21D-0376-3ED0-38A9-1DC92E85B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15852"/>
          </a:xfrm>
        </p:spPr>
        <p:txBody>
          <a:bodyPr/>
          <a:lstStyle/>
          <a:p>
            <a:r>
              <a:rPr lang="en-US" altLang="zh-CN" dirty="0" err="1"/>
              <a:t>val</a:t>
            </a:r>
            <a:r>
              <a:rPr lang="en-US" altLang="zh-CN" dirty="0"/>
              <a:t> a= List(1,2,3).map(</a:t>
            </a:r>
            <a:r>
              <a:rPr lang="en-US" altLang="zh-CN" dirty="0" err="1"/>
              <a:t>i</a:t>
            </a:r>
            <a:r>
              <a:rPr lang="en-US" altLang="zh-CN" dirty="0"/>
              <a:t> =&gt; </a:t>
            </a:r>
            <a:r>
              <a:rPr lang="en-US" altLang="zh-CN" dirty="0" err="1"/>
              <a:t>i</a:t>
            </a:r>
            <a:r>
              <a:rPr lang="en-US" altLang="zh-CN" dirty="0"/>
              <a:t>*2)    //</a:t>
            </a:r>
            <a:r>
              <a:rPr lang="zh-CN" altLang="en-US" dirty="0"/>
              <a:t> </a:t>
            </a:r>
            <a:r>
              <a:rPr lang="en-US" altLang="zh-CN" dirty="0"/>
              <a:t>List(2,4,6)</a:t>
            </a:r>
          </a:p>
          <a:p>
            <a:r>
              <a:rPr lang="en-US" altLang="zh-CN" dirty="0" err="1"/>
              <a:t>val</a:t>
            </a:r>
            <a:r>
              <a:rPr lang="en-US" altLang="zh-CN" dirty="0"/>
              <a:t> b= List(1,2,3).map(_ * 2</a:t>
            </a:r>
            <a:r>
              <a:rPr lang="zh-CN" altLang="en-US" dirty="0"/>
              <a:t>）      </a:t>
            </a:r>
            <a:r>
              <a:rPr lang="en-US" altLang="zh-CN" dirty="0"/>
              <a:t>// List(2,4,6)</a:t>
            </a:r>
          </a:p>
          <a:p>
            <a:endParaRPr lang="en-US" altLang="zh-CN" dirty="0"/>
          </a:p>
          <a:p>
            <a:r>
              <a:rPr lang="en-US" altLang="zh-CN" dirty="0" err="1"/>
              <a:t>val</a:t>
            </a:r>
            <a:r>
              <a:rPr lang="en-US" altLang="zh-CN" dirty="0"/>
              <a:t> </a:t>
            </a:r>
            <a:r>
              <a:rPr lang="en-US" altLang="zh-CN" dirty="0" err="1"/>
              <a:t>nums</a:t>
            </a:r>
            <a:r>
              <a:rPr lang="en-US" altLang="zh-CN" dirty="0"/>
              <a:t> = (1 to 10).</a:t>
            </a:r>
            <a:r>
              <a:rPr lang="en-US" altLang="zh-CN" dirty="0" err="1"/>
              <a:t>toList</a:t>
            </a:r>
            <a:r>
              <a:rPr lang="en-US" altLang="zh-CN" dirty="0"/>
              <a:t>           //List(1,2,3,4,5,6,7,8,9,10)</a:t>
            </a:r>
          </a:p>
          <a:p>
            <a:r>
              <a:rPr lang="en-US" altLang="zh-CN" dirty="0"/>
              <a:t>Val x=</a:t>
            </a:r>
            <a:r>
              <a:rPr lang="en-US" altLang="zh-CN" dirty="0" err="1"/>
              <a:t>nums.filter</a:t>
            </a:r>
            <a:r>
              <a:rPr lang="en-US" altLang="zh-CN" dirty="0"/>
              <a:t>(_ &gt; 3).filter(_ &lt; 7).map(_ * 10)</a:t>
            </a:r>
          </a:p>
          <a:p>
            <a:pPr marL="0" indent="0">
              <a:buNone/>
            </a:pPr>
            <a:r>
              <a:rPr lang="en-US" altLang="zh-CN" dirty="0"/>
              <a:t>// </a:t>
            </a:r>
            <a:r>
              <a:rPr lang="zh-CN" altLang="en-US" dirty="0"/>
              <a:t>结果： </a:t>
            </a:r>
            <a:r>
              <a:rPr lang="en-US" altLang="zh-CN" dirty="0"/>
              <a:t>x</a:t>
            </a:r>
            <a:r>
              <a:rPr lang="zh-CN" altLang="en-US" dirty="0"/>
              <a:t>是 </a:t>
            </a:r>
            <a:r>
              <a:rPr lang="en-US" altLang="zh-CN" dirty="0"/>
              <a:t>List(40, 50, 60)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还有另一种</a:t>
            </a:r>
            <a:r>
              <a:rPr lang="en-US" altLang="zh-CN" dirty="0"/>
              <a:t>Map[String, Int]</a:t>
            </a:r>
          </a:p>
          <a:p>
            <a:pPr lvl="1"/>
            <a:r>
              <a:rPr lang="zh-CN" altLang="en-US" dirty="0"/>
              <a:t>映射表：例如，姓名 </a:t>
            </a:r>
            <a:r>
              <a:rPr lang="en-US" altLang="zh-CN" dirty="0"/>
              <a:t>-&gt; </a:t>
            </a:r>
            <a:r>
              <a:rPr lang="zh-CN" altLang="en-US" dirty="0"/>
              <a:t>选了多少课</a:t>
            </a:r>
            <a:endParaRPr lang="en-US" altLang="zh-CN" dirty="0"/>
          </a:p>
          <a:p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696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B3169-EEBE-42FB-A7AB-096B4008F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186"/>
            <a:ext cx="10515600" cy="1325563"/>
          </a:xfrm>
        </p:spPr>
        <p:txBody>
          <a:bodyPr/>
          <a:lstStyle/>
          <a:p>
            <a:r>
              <a:rPr lang="en-US" altLang="zh-CN" dirty="0" err="1"/>
              <a:t>Flatmap</a:t>
            </a:r>
            <a:r>
              <a:rPr lang="zh-CN" altLang="en-US" dirty="0"/>
              <a:t>和</a:t>
            </a:r>
            <a:r>
              <a:rPr lang="en-US" altLang="zh-CN" dirty="0"/>
              <a:t>Flatten</a:t>
            </a:r>
            <a:r>
              <a:rPr lang="zh-CN" altLang="en-US" dirty="0"/>
              <a:t>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7E3447-C17A-4852-9EFB-19B67C1E8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8511" y="5380364"/>
            <a:ext cx="4515289" cy="550047"/>
          </a:xfrm>
        </p:spPr>
        <p:txBody>
          <a:bodyPr/>
          <a:lstStyle/>
          <a:p>
            <a:r>
              <a:rPr lang="en-US" altLang="zh-CN" dirty="0" err="1"/>
              <a:t>flatMap</a:t>
            </a:r>
            <a:r>
              <a:rPr lang="en-US" altLang="zh-CN" dirty="0"/>
              <a:t>=</a:t>
            </a:r>
            <a:r>
              <a:rPr lang="en-US" altLang="zh-CN" dirty="0" err="1"/>
              <a:t>map+flatten</a:t>
            </a:r>
            <a:endParaRPr lang="en-US" altLang="zh-CN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6322B35-932E-309E-BE39-D575F6BE5915}"/>
              </a:ext>
            </a:extLst>
          </p:cNvPr>
          <p:cNvSpPr txBox="1">
            <a:spLocks/>
          </p:cNvSpPr>
          <p:nvPr/>
        </p:nvSpPr>
        <p:spPr>
          <a:xfrm>
            <a:off x="838200" y="1446663"/>
            <a:ext cx="10515600" cy="520524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/>
              <a:t>val</a:t>
            </a:r>
            <a:r>
              <a:rPr lang="zh-CN" altLang="en-US" dirty="0"/>
              <a:t> </a:t>
            </a:r>
            <a:r>
              <a:rPr lang="en-US" altLang="zh-CN" dirty="0"/>
              <a:t>a=</a:t>
            </a:r>
            <a:r>
              <a:rPr lang="zh-CN" altLang="en-US" dirty="0"/>
              <a:t> </a:t>
            </a:r>
            <a:r>
              <a:rPr lang="en-US" altLang="zh-CN" dirty="0"/>
              <a:t>List(10,</a:t>
            </a:r>
            <a:r>
              <a:rPr lang="zh-CN" altLang="en-US" dirty="0"/>
              <a:t> </a:t>
            </a:r>
            <a:r>
              <a:rPr lang="en-US" altLang="zh-CN" dirty="0"/>
              <a:t>20,</a:t>
            </a:r>
            <a:r>
              <a:rPr lang="zh-CN" altLang="en-US" dirty="0"/>
              <a:t> </a:t>
            </a:r>
            <a:r>
              <a:rPr lang="en-US" altLang="zh-CN" dirty="0"/>
              <a:t>30,</a:t>
            </a:r>
            <a:r>
              <a:rPr lang="zh-CN" altLang="en-US" dirty="0"/>
              <a:t> </a:t>
            </a:r>
            <a:r>
              <a:rPr lang="en-US" altLang="zh-CN" dirty="0"/>
              <a:t>40,</a:t>
            </a:r>
            <a:r>
              <a:rPr lang="zh-CN" altLang="en-US" dirty="0"/>
              <a:t> </a:t>
            </a:r>
            <a:r>
              <a:rPr lang="en-US" altLang="zh-CN" dirty="0"/>
              <a:t>10)</a:t>
            </a:r>
            <a:r>
              <a:rPr lang="zh-CN" altLang="en-US" dirty="0"/>
              <a:t> </a:t>
            </a:r>
            <a:r>
              <a:rPr lang="en-US" altLang="zh-CN" dirty="0"/>
              <a:t>  // List(10,</a:t>
            </a:r>
            <a:r>
              <a:rPr lang="zh-CN" altLang="en-US" dirty="0"/>
              <a:t> </a:t>
            </a:r>
            <a:r>
              <a:rPr lang="en-US" altLang="zh-CN" dirty="0"/>
              <a:t>20,</a:t>
            </a:r>
            <a:r>
              <a:rPr lang="zh-CN" altLang="en-US" dirty="0"/>
              <a:t> </a:t>
            </a:r>
            <a:r>
              <a:rPr lang="en-US" altLang="zh-CN" dirty="0"/>
              <a:t>30,</a:t>
            </a:r>
            <a:r>
              <a:rPr lang="zh-CN" altLang="en-US" dirty="0"/>
              <a:t> </a:t>
            </a:r>
            <a:r>
              <a:rPr lang="en-US" altLang="zh-CN" dirty="0"/>
              <a:t>40,</a:t>
            </a:r>
            <a:r>
              <a:rPr lang="zh-CN" altLang="en-US" dirty="0"/>
              <a:t> </a:t>
            </a:r>
            <a:r>
              <a:rPr lang="en-US" altLang="zh-CN" dirty="0"/>
              <a:t>10)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a.drop</a:t>
            </a:r>
            <a:r>
              <a:rPr lang="en-US" altLang="zh-CN" dirty="0"/>
              <a:t>(2)                                  // List(30, 40, 10)</a:t>
            </a:r>
          </a:p>
          <a:p>
            <a:r>
              <a:rPr lang="en-US" altLang="zh-CN" dirty="0" err="1"/>
              <a:t>a.dropWhile</a:t>
            </a:r>
            <a:r>
              <a:rPr lang="en-US" altLang="zh-CN" dirty="0"/>
              <a:t>(_ &lt; 25)                 // List(30, 40, 10)</a:t>
            </a:r>
          </a:p>
          <a:p>
            <a:r>
              <a:rPr lang="en-US" altLang="zh-CN" dirty="0" err="1"/>
              <a:t>a.filter</a:t>
            </a:r>
            <a:r>
              <a:rPr lang="en-US" altLang="zh-CN" dirty="0"/>
              <a:t>(_ &lt; 25)                          // List(10, 20, 10)</a:t>
            </a:r>
          </a:p>
          <a:p>
            <a:r>
              <a:rPr lang="en-US" altLang="zh-CN" dirty="0" err="1"/>
              <a:t>a.slice</a:t>
            </a:r>
            <a:r>
              <a:rPr lang="en-US" altLang="zh-CN" dirty="0"/>
              <a:t>(2,4)                               // List(30, 40)</a:t>
            </a:r>
          </a:p>
          <a:p>
            <a:r>
              <a:rPr lang="en-US" altLang="zh-CN" dirty="0" err="1"/>
              <a:t>a.tail</a:t>
            </a:r>
            <a:r>
              <a:rPr lang="en-US" altLang="zh-CN" dirty="0"/>
              <a:t>                                        // List(20, 30, 40, 10)</a:t>
            </a:r>
          </a:p>
          <a:p>
            <a:r>
              <a:rPr lang="en-US" altLang="zh-CN" dirty="0" err="1"/>
              <a:t>a.take</a:t>
            </a:r>
            <a:r>
              <a:rPr lang="en-US" altLang="zh-CN" dirty="0"/>
              <a:t>(3)                                  // List(10, 20, 30)</a:t>
            </a:r>
          </a:p>
          <a:p>
            <a:r>
              <a:rPr lang="en-US" altLang="zh-CN" dirty="0" err="1"/>
              <a:t>a.takeWhile</a:t>
            </a:r>
            <a:r>
              <a:rPr lang="en-US" altLang="zh-CN" dirty="0"/>
              <a:t>(_ &lt; 30)                 // List(10, 20)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 err="1"/>
              <a:t>val</a:t>
            </a:r>
            <a:r>
              <a:rPr lang="en-US" altLang="zh-CN" dirty="0"/>
              <a:t> a = List(List(1,2), List(3,4))  </a:t>
            </a:r>
          </a:p>
          <a:p>
            <a:r>
              <a:rPr lang="en-US" altLang="zh-CN" dirty="0" err="1"/>
              <a:t>a.flatten</a:t>
            </a:r>
            <a:r>
              <a:rPr lang="en-US" altLang="zh-CN" dirty="0"/>
              <a:t>                                  // List(1,2,3,4)</a:t>
            </a:r>
          </a:p>
          <a:p>
            <a:endParaRPr lang="en-US" altLang="zh-CN" dirty="0"/>
          </a:p>
          <a:p>
            <a:r>
              <a:rPr lang="en-US" altLang="zh-CN" dirty="0" err="1"/>
              <a:t>val</a:t>
            </a:r>
            <a:r>
              <a:rPr lang="en-US" altLang="zh-CN" dirty="0"/>
              <a:t> </a:t>
            </a:r>
            <a:r>
              <a:rPr lang="en-US" altLang="zh-CN" dirty="0" err="1"/>
              <a:t>nums</a:t>
            </a:r>
            <a:r>
              <a:rPr lang="en-US" altLang="zh-CN" dirty="0"/>
              <a:t>=List(“one”, “two”)  </a:t>
            </a:r>
          </a:p>
          <a:p>
            <a:r>
              <a:rPr lang="en-US" altLang="zh-CN" dirty="0" err="1"/>
              <a:t>nums.map</a:t>
            </a:r>
            <a:r>
              <a:rPr lang="en-US" altLang="zh-CN" dirty="0"/>
              <a:t>(_.</a:t>
            </a:r>
            <a:r>
              <a:rPr lang="en-US" altLang="zh-CN" dirty="0" err="1"/>
              <a:t>toUpperCase</a:t>
            </a:r>
            <a:r>
              <a:rPr lang="en-US" altLang="zh-CN" dirty="0"/>
              <a:t>)     // List(“ONE”, “TWO”)</a:t>
            </a:r>
          </a:p>
          <a:p>
            <a:r>
              <a:rPr lang="en-US" altLang="zh-CN" dirty="0" err="1"/>
              <a:t>nums.flatMap</a:t>
            </a:r>
            <a:r>
              <a:rPr lang="en-US" altLang="zh-CN" dirty="0"/>
              <a:t>(_.</a:t>
            </a:r>
            <a:r>
              <a:rPr lang="en-US" altLang="zh-CN" dirty="0" err="1"/>
              <a:t>toUpperCase</a:t>
            </a:r>
            <a:r>
              <a:rPr lang="en-US" altLang="zh-CN" dirty="0"/>
              <a:t>) // List(‘O’, ‘N’, ‘E’, ‘T’, </a:t>
            </a:r>
            <a:r>
              <a:rPr lang="zh-CN" altLang="en-US" dirty="0"/>
              <a:t>‘</a:t>
            </a:r>
            <a:r>
              <a:rPr lang="en-US" altLang="zh-CN" dirty="0"/>
              <a:t>W’,</a:t>
            </a:r>
            <a:r>
              <a:rPr lang="zh-CN" altLang="en-US" dirty="0"/>
              <a:t> </a:t>
            </a:r>
            <a:r>
              <a:rPr lang="en-US" altLang="zh-CN" dirty="0"/>
              <a:t>‘O’)</a:t>
            </a:r>
          </a:p>
          <a:p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7479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86D8C3-B70F-45AE-9A55-9F5522182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247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函数是第一公民，可以被当做参数使用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6E94E2-7D9E-0E2E-4481-7C408298A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zh-CN" altLang="en-US" dirty="0"/>
              <a:t>例如，如果你定义了一个函数：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def double(</a:t>
            </a:r>
            <a:r>
              <a:rPr lang="en-US" altLang="zh-CN" dirty="0" err="1"/>
              <a:t>i</a:t>
            </a:r>
            <a:r>
              <a:rPr lang="en-US" altLang="zh-CN" dirty="0"/>
              <a:t>: Int) : Int = </a:t>
            </a:r>
            <a:r>
              <a:rPr lang="en-US" altLang="zh-CN" dirty="0" err="1"/>
              <a:t>i</a:t>
            </a:r>
            <a:r>
              <a:rPr lang="en-US" altLang="zh-CN" dirty="0"/>
              <a:t>*2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那你可以把这个函数当做一个东西，传给别人：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val</a:t>
            </a:r>
            <a:r>
              <a:rPr lang="en-US" altLang="zh-CN" dirty="0"/>
              <a:t> x = </a:t>
            </a:r>
            <a:r>
              <a:rPr lang="en-US" altLang="zh-CN" dirty="0" err="1"/>
              <a:t>ints.map</a:t>
            </a:r>
            <a:r>
              <a:rPr lang="en-US" altLang="zh-CN" dirty="0"/>
              <a:t>(double)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即：</a:t>
            </a:r>
            <a:r>
              <a:rPr lang="en-US" altLang="zh-CN" dirty="0" err="1"/>
              <a:t>ints</a:t>
            </a:r>
            <a:r>
              <a:rPr lang="zh-CN" altLang="en-US" dirty="0"/>
              <a:t>中的每个数，都会被当做输入参数传给</a:t>
            </a:r>
            <a:r>
              <a:rPr lang="en-US" altLang="zh-CN" dirty="0"/>
              <a:t>double</a:t>
            </a:r>
            <a:r>
              <a:rPr lang="zh-CN" altLang="en-US" dirty="0"/>
              <a:t>函数，然后返回的结果成为新的数据包袱中的一员，合并成</a:t>
            </a:r>
            <a:r>
              <a:rPr lang="en-US" altLang="zh-CN" dirty="0"/>
              <a:t>x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553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F479A-3CF9-6A02-A1E0-2A4CF0B82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第一次作业操作流程介绍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EF58C8-6057-E220-94A7-E76905931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4983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打开</a:t>
            </a:r>
            <a:r>
              <a:rPr lang="en-US" altLang="zh-CN" dirty="0"/>
              <a:t>codex</a:t>
            </a:r>
            <a:r>
              <a:rPr lang="zh-CN" altLang="en-US" dirty="0"/>
              <a:t>，按照如下顺序要求：</a:t>
            </a:r>
            <a:endParaRPr lang="en-US" altLang="zh-CN" dirty="0"/>
          </a:p>
          <a:p>
            <a:pPr lvl="1"/>
            <a:r>
              <a:rPr lang="zh-CN" altLang="en-US" dirty="0"/>
              <a:t>设计</a:t>
            </a:r>
            <a:r>
              <a:rPr lang="en-US" altLang="zh-CN" dirty="0"/>
              <a:t>IP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选一个</a:t>
            </a:r>
            <a:r>
              <a:rPr lang="en-US" altLang="zh-CN" dirty="0">
                <a:sym typeface="Wingdings" panose="05000000000000000000" pitchFamily="2" charset="2"/>
              </a:rPr>
              <a:t>IP</a:t>
            </a:r>
            <a:r>
              <a:rPr lang="zh-CN" altLang="en-US" dirty="0">
                <a:sym typeface="Wingdings" panose="05000000000000000000" pitchFamily="2" charset="2"/>
              </a:rPr>
              <a:t>用</a:t>
            </a:r>
            <a:r>
              <a:rPr lang="en-US" altLang="zh-CN" dirty="0">
                <a:sym typeface="Wingdings" panose="05000000000000000000" pitchFamily="2" charset="2"/>
              </a:rPr>
              <a:t>image-gen</a:t>
            </a:r>
            <a:r>
              <a:rPr lang="zh-CN" altLang="en-US" dirty="0">
                <a:sym typeface="Wingdings" panose="05000000000000000000" pitchFamily="2" charset="2"/>
              </a:rPr>
              <a:t>画个图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修改图片背景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使用即梦做一个视频，首尾相连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做一个小软件（</a:t>
            </a:r>
            <a:r>
              <a:rPr lang="en-US" altLang="zh-CN" dirty="0">
                <a:sym typeface="Wingdings" panose="05000000000000000000" pitchFamily="2" charset="2"/>
              </a:rPr>
              <a:t>2</a:t>
            </a:r>
            <a:r>
              <a:rPr lang="zh-CN" altLang="en-US" dirty="0">
                <a:sym typeface="Wingdings" panose="05000000000000000000" pitchFamily="2" charset="2"/>
              </a:rPr>
              <a:t>个页面）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把视频嵌入到软件的首页</a:t>
            </a:r>
            <a:endParaRPr lang="en-US" altLang="zh-CN" dirty="0">
              <a:sym typeface="Wingdings" panose="05000000000000000000" pitchFamily="2" charset="2"/>
            </a:endParaRPr>
          </a:p>
          <a:p>
            <a:r>
              <a:rPr lang="zh-CN" altLang="en-US" sz="1800" dirty="0"/>
              <a:t>我想要做一个心情日记本。但是我想要先设计一个可爱的卡通形象，作为我的</a:t>
            </a:r>
            <a:r>
              <a:rPr lang="en-US" altLang="zh-CN" sz="1800" dirty="0"/>
              <a:t>IP</a:t>
            </a:r>
            <a:r>
              <a:rPr lang="zh-CN" altLang="en-US" sz="1800" dirty="0"/>
              <a:t>。你帮我想想，有什么好的卡通形象呢？先帮我用文字设计一下</a:t>
            </a:r>
          </a:p>
          <a:p>
            <a:r>
              <a:rPr lang="zh-CN" altLang="en-US" sz="1800" dirty="0"/>
              <a:t>我想要慢慢。那么，下面请你使用</a:t>
            </a:r>
            <a:r>
              <a:rPr lang="en-US" altLang="zh-CN" sz="1800" dirty="0"/>
              <a:t>image-gen</a:t>
            </a:r>
            <a:r>
              <a:rPr lang="zh-CN" altLang="en-US" sz="1800" dirty="0"/>
              <a:t>帮我生成一张慢慢的照片吧</a:t>
            </a:r>
          </a:p>
          <a:p>
            <a:r>
              <a:rPr lang="zh-CN" altLang="en-US" sz="1800" dirty="0"/>
              <a:t>非常好！我下面想要给慢慢的这个图片加一个好看的背景，之后用于做一个</a:t>
            </a:r>
            <a:r>
              <a:rPr lang="en-US" altLang="zh-CN" sz="1800" dirty="0"/>
              <a:t>5</a:t>
            </a:r>
            <a:r>
              <a:rPr lang="zh-CN" altLang="en-US" sz="1800" dirty="0"/>
              <a:t>秒的动态视频，请你帮我用</a:t>
            </a:r>
            <a:r>
              <a:rPr lang="en-US" altLang="zh-CN" sz="1800" dirty="0"/>
              <a:t>image-gen</a:t>
            </a:r>
            <a:r>
              <a:rPr lang="zh-CN" altLang="en-US" sz="1800" dirty="0"/>
              <a:t>加上这个背景吧</a:t>
            </a:r>
          </a:p>
          <a:p>
            <a:r>
              <a:rPr lang="zh-CN" altLang="en-US" sz="1800" dirty="0"/>
              <a:t>很好，下面请你围绕这个图片，生成一个</a:t>
            </a:r>
            <a:r>
              <a:rPr lang="en-US" altLang="zh-CN" sz="1800" dirty="0"/>
              <a:t>5</a:t>
            </a:r>
            <a:r>
              <a:rPr lang="zh-CN" altLang="en-US" sz="1800" dirty="0"/>
              <a:t>秒的，给</a:t>
            </a:r>
            <a:r>
              <a:rPr lang="en-US" altLang="zh-CN" sz="1800" dirty="0"/>
              <a:t>kling-video-v3</a:t>
            </a:r>
            <a:r>
              <a:rPr lang="zh-CN" altLang="en-US" sz="1800" dirty="0"/>
              <a:t>的提示词，具体到每一秒是什么，要求首尾帧一致。我已经把老师给我的模型如何调用的方案</a:t>
            </a:r>
            <a:r>
              <a:rPr lang="en-US" altLang="zh-CN" sz="1800" dirty="0"/>
              <a:t>tokenhub_student_quickstart.txt</a:t>
            </a:r>
            <a:r>
              <a:rPr lang="zh-CN" altLang="en-US" sz="1800" dirty="0"/>
              <a:t>放入了当前的文件夹，请你参考这个方案，调用</a:t>
            </a:r>
            <a:r>
              <a:rPr lang="en-US" altLang="zh-CN" sz="1800" dirty="0"/>
              <a:t>kling-video-v3</a:t>
            </a:r>
            <a:r>
              <a:rPr lang="zh-CN" altLang="en-US" sz="1800" dirty="0"/>
              <a:t>帮我生成视频。助教已经把腾讯云的</a:t>
            </a:r>
            <a:r>
              <a:rPr lang="en-US" altLang="zh-CN" sz="1800" dirty="0"/>
              <a:t>key</a:t>
            </a:r>
            <a:r>
              <a:rPr lang="zh-CN" altLang="en-US" sz="1800" dirty="0"/>
              <a:t>给我了，为了保证</a:t>
            </a:r>
            <a:r>
              <a:rPr lang="en-US" altLang="zh-CN" sz="1800" dirty="0"/>
              <a:t>key</a:t>
            </a:r>
            <a:r>
              <a:rPr lang="zh-CN" altLang="en-US" sz="1800" dirty="0"/>
              <a:t>的安全，请你假设它已经写入到了</a:t>
            </a:r>
            <a:r>
              <a:rPr lang="zh-CN" altLang="en-US" sz="1800"/>
              <a:t>某个配置文件中，之后我会填入的。</a:t>
            </a:r>
            <a:endParaRPr lang="en-US" altLang="zh-CN" sz="1800" dirty="0"/>
          </a:p>
          <a:p>
            <a:r>
              <a:rPr lang="zh-CN" altLang="en-US" sz="1800" dirty="0"/>
              <a:t>非常好。我想要做一个简单的纯前端的</a:t>
            </a:r>
            <a:r>
              <a:rPr lang="en-US" altLang="zh-CN" sz="1800" dirty="0" err="1"/>
              <a:t>react+typescript</a:t>
            </a:r>
            <a:r>
              <a:rPr lang="zh-CN" altLang="en-US" sz="1800" dirty="0"/>
              <a:t>项目，就是关于这个日记本的，请你先围绕慢慢的形象帮我做一个吧，之后我会把视频插入，成为首页的背景。请你做一个</a:t>
            </a:r>
            <a:r>
              <a:rPr lang="en-US" altLang="zh-CN" sz="1800" dirty="0"/>
              <a:t>2</a:t>
            </a:r>
            <a:r>
              <a:rPr lang="zh-CN" altLang="en-US" sz="1800" dirty="0"/>
              <a:t>个页面的简单的项目</a:t>
            </a:r>
            <a:endParaRPr lang="en-US" altLang="zh-CN" sz="1800" dirty="0"/>
          </a:p>
          <a:p>
            <a:r>
              <a:rPr lang="zh-CN" altLang="en-US" sz="1800" dirty="0"/>
              <a:t>很好，请你把我新做的视频加到项目里，成为首页的背景吧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07542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89F90-660A-65CC-D59A-E17C154D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DAF601A-E39B-21BE-6841-5564B5C5AD4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75768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请填写你的学号，例如：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2025XXXXXX </a:t>
            </a: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F4A297-9202-865A-3F12-FBFBF817E46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86A5927-ED9F-F475-F41A-B8097B1EFBB1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C76204AF-B96A-92CA-B372-4B520A6D3F2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2F8ED0A8-6D52-E96E-AD58-BC992718A77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3630DE08-5AF1-DC43-32D2-5C863410DBF8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ADF5C611-B417-E98F-13D5-4ADF25FDAC6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CD714AC-D9CF-3FB4-CB39-0D6E706AEA72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79288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E3B28-C990-F9D1-C19F-7BC36BB91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4AA0208F-D156-31DB-669A-D88693EACDA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签到：黑板上写的是什么？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E7680E-EC39-B88E-5563-823569272A6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4695FB-6AFF-68D2-2F12-0484C93627F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52CDFA9-5E64-402A-3735-C3E8FB16EA5C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F531AD4-5D64-18E8-ADE4-9D207FAA10B8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3DDA6F7-450E-46DF-1905-33FDBA7DC28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591868-1241-5B42-D885-141E6AC2D5A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3E5A43A-7FBE-3C63-8663-70BD269B864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859792-4675-DA47-6461-F3C8BDA2096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AD070FD-7C1A-250A-B550-4252822A83D9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791DB48-FC28-8247-D26E-106D25F70D2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2113E796-EBBD-1EA7-B7DD-8C8DAE83E65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B9EC60C5-2728-B62F-9D76-31C47563623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48F70AC4-DEC9-D153-360B-646BEFB1A81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3" name="TipText">
              <a:extLst>
                <a:ext uri="{FF2B5EF4-FFF2-40B4-BE49-F238E27FC236}">
                  <a16:creationId xmlns:a16="http://schemas.microsoft.com/office/drawing/2014/main" id="{CC6D98B7-742D-1A8E-15E8-E9E036E8C9E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F539ED1-5F51-35CD-9712-C9C7AC5BE95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1512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90001895770882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776733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245590342261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777627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783967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784667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245590399500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786530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788701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233522528208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789855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791141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793514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794960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795851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797169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245590406819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245590408985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01701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02366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03063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04774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07285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08316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ONYMOUSPOLLING" val="False"/>
  <p:tag name="RAINPROBLEMTYPE" val="MultipleChoice"/>
  <p:tag name="RAINPROBLEM" val="MultipleChoice"/>
  <p:tag name="PROBLEMSCORE" val="1.0"/>
  <p:tag name="LOCALSLIDEID" val="1789882110631319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" val="[{&quot;num&quot;:1,&quot;caseSensitive&quot;:false,&quot;fuzzyMatch&quot;:false,&quot;Score&quot;:1.0,&quot;answers&quot;:[&quot;aa&quot;]}]"/>
  <p:tag name="LOCALSLIDEID" val="17898821106377886"/>
  <p:tag name="PROBLEMSCORE" val="1.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09825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09273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11752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11979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135129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14534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17664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18325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0018958195459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0245590415968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" val="[{&quot;num&quot;:1,&quot;caseSensitive&quot;:false,&quot;fuzzyMatch&quot;:false,&quot;Score&quot;:1.0,&quot;answers&quot;:[&quot;aa&quot;]}]"/>
  <p:tag name="LOCALSLIDEID" val="17914579166429731"/>
  <p:tag name="PROBLEMSCORE" val="1.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ONYMOUSPOLLING" val="False"/>
  <p:tag name="RAINPROBLEMTYPE" val="MultipleChoice"/>
  <p:tag name="RAINPROBLEM" val="MultipleChoice"/>
  <p:tag name="PROBLEMSCORE" val="1.0"/>
  <p:tag name="LOCALSLIDEID" val="1791457916657013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8325</TotalTime>
  <Words>2376</Words>
  <Application>Microsoft Office PowerPoint</Application>
  <PresentationFormat>宽屏</PresentationFormat>
  <Paragraphs>264</Paragraphs>
  <Slides>37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等线</vt:lpstr>
      <vt:lpstr>等线 Light</vt:lpstr>
      <vt:lpstr>Microsoft Yahei</vt:lpstr>
      <vt:lpstr>Arial</vt:lpstr>
      <vt:lpstr>Wingdings</vt:lpstr>
      <vt:lpstr>Office 主题​​</vt:lpstr>
      <vt:lpstr>无代码零基础软件制作</vt:lpstr>
      <vt:lpstr>通知</vt:lpstr>
      <vt:lpstr>环境配置</vt:lpstr>
      <vt:lpstr>配置环境</vt:lpstr>
      <vt:lpstr>Windows请使用英文用户名</vt:lpstr>
      <vt:lpstr>安装WSL</vt:lpstr>
      <vt:lpstr>安装 intellij</vt:lpstr>
      <vt:lpstr>安装 Webstorm</vt:lpstr>
      <vt:lpstr>VPN</vt:lpstr>
      <vt:lpstr>安装 sbt</vt:lpstr>
      <vt:lpstr>安装 git</vt:lpstr>
      <vt:lpstr>创建一个空的Scala项目</vt:lpstr>
      <vt:lpstr>安装 sbt</vt:lpstr>
      <vt:lpstr>试着跑一下 hello world!</vt:lpstr>
      <vt:lpstr>安装postgresql</vt:lpstr>
      <vt:lpstr>注册GPT</vt:lpstr>
      <vt:lpstr>安装codex</vt:lpstr>
      <vt:lpstr>前端</vt:lpstr>
      <vt:lpstr>前端 </vt:lpstr>
      <vt:lpstr>常见问题</vt:lpstr>
      <vt:lpstr>常见问题</vt:lpstr>
      <vt:lpstr>代码语言简介</vt:lpstr>
      <vt:lpstr>前端和后端</vt:lpstr>
      <vt:lpstr>PowerPoint 演示文稿</vt:lpstr>
      <vt:lpstr>PowerPoint 演示文稿</vt:lpstr>
      <vt:lpstr>Scala</vt:lpstr>
      <vt:lpstr>Scala 3 入门</vt:lpstr>
      <vt:lpstr>声明式编程</vt:lpstr>
      <vt:lpstr>val 和 var</vt:lpstr>
      <vt:lpstr>基础类型</vt:lpstr>
      <vt:lpstr>For 循环</vt:lpstr>
      <vt:lpstr>.map</vt:lpstr>
      <vt:lpstr>Flatmap和Flatten等</vt:lpstr>
      <vt:lpstr>函数是第一公民，可以被当做参数使用</vt:lpstr>
      <vt:lpstr>第一次作业操作流程介绍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Type-safe modern system practice</dc:title>
  <dc:creator>yuanyang</dc:creator>
  <cp:lastModifiedBy>Yang Yuan</cp:lastModifiedBy>
  <cp:revision>1284</cp:revision>
  <dcterms:created xsi:type="dcterms:W3CDTF">2022-06-29T13:25:34Z</dcterms:created>
  <dcterms:modified xsi:type="dcterms:W3CDTF">2026-10-08T11:30:31Z</dcterms:modified>
</cp:coreProperties>
</file>