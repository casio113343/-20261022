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3" r:id="rId7"/>
    <p:sldId id="266" r:id="rId8"/>
    <p:sldId id="271" r:id="rId9"/>
    <p:sldId id="272" r:id="rId10"/>
    <p:sldId id="273" r:id="rId11"/>
    <p:sldId id="274" r:id="rId12"/>
    <p:sldId id="275" r:id="rId13"/>
    <p:sldId id="673" r:id="rId14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60" y="129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72710556-746B-4100-A43D-02D154CB7326}" type="datetimeFigureOut">
              <a:rPr lang="en-US"/>
              <a:t>10/22/2026</a:t>
            </a:fld>
            <a:endParaRPr lang="zh-CN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zh-CN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二级</a:t>
            </a:r>
            <a:endParaRPr/>
          </a:p>
          <a:p>
            <a:pPr lvl="2">
              <a:defRPr/>
            </a:pPr>
            <a:r>
              <a:rPr lang="zh-CN"/>
              <a:t>三级</a:t>
            </a:r>
            <a:endParaRPr/>
          </a:p>
          <a:p>
            <a:pPr lvl="3">
              <a:defRPr/>
            </a:pPr>
            <a:r>
              <a:rPr lang="zh-CN"/>
              <a:t>四级</a:t>
            </a:r>
            <a:endParaRPr/>
          </a:p>
          <a:p>
            <a:pPr lvl="4">
              <a:defRPr/>
            </a:pPr>
            <a:r>
              <a:rPr lang="zh-CN"/>
              <a:t>五级</a:t>
            </a:r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D02DCB5-3D3D-4046-9CA1-F21CF4ABD7C1}" type="slidenum">
              <a:rPr lang="zh-CN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463148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4209925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54627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A4C931-7A93-E74A-3BE6-36C7EFE4C9B6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9CD41D-2AE8-8F2F-B226-427F9E1CDD36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F01949-6614-B029-CC1E-09C569037909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A40E82-1BD4-B375-A386-D2060E9E4E47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78AB2C-FC23-BBDD-8CE2-B52DEDEFFDDC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B72906-98F0-97CF-6D93-271CA2F33904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3BDB94-EEFA-F3EB-8AA3-74E59256272B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4AFA0A4-A068-4199-80FC-6187F51285D3}" type="slidenum">
              <a:rPr lang="en-US" altLang="zh-CN"/>
              <a:t>8</a:t>
            </a:fld>
            <a:endParaRPr 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35C361-0336-EFD7-B5C3-FA55A7D56B65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FE6F77-E1DE-D90F-7DEB-C628254104F5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592FE4-A934-55B3-B2EC-2567C2EDA168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3193BD-006B-F792-07A8-29CE36534A1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标题幻灯片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zh-CN"/>
              <a:t>单击此处编辑母版副标题样式</a:t>
            </a:r>
            <a:endParaRPr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00508DE-EC9B-4BD0-8DF6-A34963F8D0B7}" type="datetimeFigureOut">
              <a:rPr lang="en-US"/>
              <a:t>10/22/2026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00EDF2F-FFD7-4CEB-AC9C-403B15CF831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标题和内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二级</a:t>
            </a:r>
            <a:endParaRPr/>
          </a:p>
          <a:p>
            <a:pPr lvl="2">
              <a:defRPr/>
            </a:pPr>
            <a:r>
              <a:rPr lang="zh-CN"/>
              <a:t>三级</a:t>
            </a:r>
            <a:endParaRPr/>
          </a:p>
          <a:p>
            <a:pPr lvl="3">
              <a:defRPr/>
            </a:pPr>
            <a:r>
              <a:rPr lang="zh-CN"/>
              <a:t>四级</a:t>
            </a:r>
            <a:endParaRPr/>
          </a:p>
          <a:p>
            <a:pPr lvl="4">
              <a:defRPr/>
            </a:pPr>
            <a:r>
              <a:rPr lang="zh-CN"/>
              <a:t>五级</a:t>
            </a:r>
            <a:endParaRPr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00508DE-EC9B-4BD0-8DF6-A34963F8D0B7}" type="datetimeFigureOut">
              <a:rPr lang="en-US"/>
              <a:t>10/22/2026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00EDF2F-FFD7-4CEB-AC9C-403B15CF831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节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00508DE-EC9B-4BD0-8DF6-A34963F8D0B7}" type="datetimeFigureOut">
              <a:rPr lang="en-US"/>
              <a:t>10/22/2026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00EDF2F-FFD7-4CEB-AC9C-403B15CF831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两栏内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二级</a:t>
            </a:r>
            <a:endParaRPr/>
          </a:p>
          <a:p>
            <a:pPr lvl="2">
              <a:defRPr/>
            </a:pPr>
            <a:r>
              <a:rPr lang="zh-CN"/>
              <a:t>三级</a:t>
            </a:r>
            <a:endParaRPr/>
          </a:p>
          <a:p>
            <a:pPr lvl="3">
              <a:defRPr/>
            </a:pPr>
            <a:r>
              <a:rPr lang="zh-CN"/>
              <a:t>四级</a:t>
            </a:r>
            <a:endParaRPr/>
          </a:p>
          <a:p>
            <a:pPr lvl="4">
              <a:defRPr/>
            </a:pPr>
            <a:r>
              <a:rPr lang="zh-CN"/>
              <a:t>五级</a:t>
            </a:r>
            <a:endParaRPr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二级</a:t>
            </a:r>
            <a:endParaRPr/>
          </a:p>
          <a:p>
            <a:pPr lvl="2">
              <a:defRPr/>
            </a:pPr>
            <a:r>
              <a:rPr lang="zh-CN"/>
              <a:t>三级</a:t>
            </a:r>
            <a:endParaRPr/>
          </a:p>
          <a:p>
            <a:pPr lvl="3">
              <a:defRPr/>
            </a:pPr>
            <a:r>
              <a:rPr lang="zh-CN"/>
              <a:t>四级</a:t>
            </a:r>
            <a:endParaRPr/>
          </a:p>
          <a:p>
            <a:pPr lvl="4">
              <a:defRPr/>
            </a:pPr>
            <a:r>
              <a:rPr lang="zh-CN"/>
              <a:t>五级</a:t>
            </a:r>
            <a:endParaRPr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00508DE-EC9B-4BD0-8DF6-A34963F8D0B7}" type="datetimeFigureOut">
              <a:rPr lang="en-US"/>
              <a:t>10/22/2026</a:t>
            </a:fld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00EDF2F-FFD7-4CEB-AC9C-403B15CF831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比较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二级</a:t>
            </a:r>
            <a:endParaRPr/>
          </a:p>
          <a:p>
            <a:pPr lvl="2">
              <a:defRPr/>
            </a:pPr>
            <a:r>
              <a:rPr lang="zh-CN"/>
              <a:t>三级</a:t>
            </a:r>
            <a:endParaRPr/>
          </a:p>
          <a:p>
            <a:pPr lvl="3">
              <a:defRPr/>
            </a:pPr>
            <a:r>
              <a:rPr lang="zh-CN"/>
              <a:t>四级</a:t>
            </a:r>
            <a:endParaRPr/>
          </a:p>
          <a:p>
            <a:pPr lvl="4">
              <a:defRPr/>
            </a:pPr>
            <a:r>
              <a:rPr lang="zh-CN"/>
              <a:t>五级</a:t>
            </a:r>
            <a:endParaRPr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二级</a:t>
            </a:r>
            <a:endParaRPr/>
          </a:p>
          <a:p>
            <a:pPr lvl="2">
              <a:defRPr/>
            </a:pPr>
            <a:r>
              <a:rPr lang="zh-CN"/>
              <a:t>三级</a:t>
            </a:r>
            <a:endParaRPr/>
          </a:p>
          <a:p>
            <a:pPr lvl="3">
              <a:defRPr/>
            </a:pPr>
            <a:r>
              <a:rPr lang="zh-CN"/>
              <a:t>四级</a:t>
            </a:r>
            <a:endParaRPr/>
          </a:p>
          <a:p>
            <a:pPr lvl="4">
              <a:defRPr/>
            </a:pPr>
            <a:r>
              <a:rPr lang="zh-CN"/>
              <a:t>五级</a:t>
            </a:r>
            <a:endParaRPr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00508DE-EC9B-4BD0-8DF6-A34963F8D0B7}" type="datetimeFigureOut">
              <a:rPr lang="en-US"/>
              <a:t>10/22/2026</a:t>
            </a:fld>
            <a:endParaRPr 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00EDF2F-FFD7-4CEB-AC9C-403B15CF831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仅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00508DE-EC9B-4BD0-8DF6-A34963F8D0B7}" type="datetimeFigureOut">
              <a:rPr lang="en-US"/>
              <a:t>10/22/2026</a:t>
            </a:fld>
            <a:endParaRPr 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00EDF2F-FFD7-4CEB-AC9C-403B15CF831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空白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00508DE-EC9B-4BD0-8DF6-A34963F8D0B7}" type="datetimeFigureOut">
              <a:rPr lang="en-US"/>
              <a:t>10/22/2026</a:t>
            </a:fld>
            <a:endParaRPr 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00EDF2F-FFD7-4CEB-AC9C-403B15CF831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内容与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二级</a:t>
            </a:r>
            <a:endParaRPr/>
          </a:p>
          <a:p>
            <a:pPr lvl="2">
              <a:defRPr/>
            </a:pPr>
            <a:r>
              <a:rPr lang="zh-CN"/>
              <a:t>三级</a:t>
            </a:r>
            <a:endParaRPr/>
          </a:p>
          <a:p>
            <a:pPr lvl="3">
              <a:defRPr/>
            </a:pPr>
            <a:r>
              <a:rPr lang="zh-CN"/>
              <a:t>四级</a:t>
            </a:r>
            <a:endParaRPr/>
          </a:p>
          <a:p>
            <a:pPr lvl="4">
              <a:defRPr/>
            </a:pPr>
            <a:r>
              <a:rPr lang="zh-CN"/>
              <a:t>五级</a:t>
            </a:r>
            <a:endParaRPr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00508DE-EC9B-4BD0-8DF6-A34963F8D0B7}" type="datetimeFigureOut">
              <a:rPr lang="en-US"/>
              <a:t>10/22/2026</a:t>
            </a:fld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00EDF2F-FFD7-4CEB-AC9C-403B15CF831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图片与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00508DE-EC9B-4BD0-8DF6-A34963F8D0B7}" type="datetimeFigureOut">
              <a:rPr lang="en-US"/>
              <a:t>10/22/2026</a:t>
            </a:fld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00EDF2F-FFD7-4CEB-AC9C-403B15CF831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标题和竖排文字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二级</a:t>
            </a:r>
            <a:endParaRPr/>
          </a:p>
          <a:p>
            <a:pPr lvl="2">
              <a:defRPr/>
            </a:pPr>
            <a:r>
              <a:rPr lang="zh-CN"/>
              <a:t>三级</a:t>
            </a:r>
            <a:endParaRPr/>
          </a:p>
          <a:p>
            <a:pPr lvl="3">
              <a:defRPr/>
            </a:pPr>
            <a:r>
              <a:rPr lang="zh-CN"/>
              <a:t>四级</a:t>
            </a:r>
            <a:endParaRPr/>
          </a:p>
          <a:p>
            <a:pPr lvl="4">
              <a:defRPr/>
            </a:pPr>
            <a:r>
              <a:rPr lang="zh-CN"/>
              <a:t>五级</a:t>
            </a:r>
            <a:endParaRPr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00508DE-EC9B-4BD0-8DF6-A34963F8D0B7}" type="datetimeFigureOut">
              <a:rPr lang="en-US"/>
              <a:t>10/22/2026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00EDF2F-FFD7-4CEB-AC9C-403B15CF831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竖排标题与文本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二级</a:t>
            </a:r>
            <a:endParaRPr/>
          </a:p>
          <a:p>
            <a:pPr lvl="2">
              <a:defRPr/>
            </a:pPr>
            <a:r>
              <a:rPr lang="zh-CN"/>
              <a:t>三级</a:t>
            </a:r>
            <a:endParaRPr/>
          </a:p>
          <a:p>
            <a:pPr lvl="3">
              <a:defRPr/>
            </a:pPr>
            <a:r>
              <a:rPr lang="zh-CN"/>
              <a:t>四级</a:t>
            </a:r>
            <a:endParaRPr/>
          </a:p>
          <a:p>
            <a:pPr lvl="4">
              <a:defRPr/>
            </a:pPr>
            <a:r>
              <a:rPr lang="zh-CN"/>
              <a:t>五级</a:t>
            </a:r>
            <a:endParaRPr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00508DE-EC9B-4BD0-8DF6-A34963F8D0B7}" type="datetimeFigureOut">
              <a:rPr lang="en-US"/>
              <a:t>10/22/2026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00EDF2F-FFD7-4CEB-AC9C-403B15CF831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二级</a:t>
            </a:r>
            <a:endParaRPr/>
          </a:p>
          <a:p>
            <a:pPr lvl="2">
              <a:defRPr/>
            </a:pPr>
            <a:r>
              <a:rPr lang="zh-CN"/>
              <a:t>三级</a:t>
            </a:r>
            <a:endParaRPr/>
          </a:p>
          <a:p>
            <a:pPr lvl="3">
              <a:defRPr/>
            </a:pPr>
            <a:r>
              <a:rPr lang="zh-CN"/>
              <a:t>四级</a:t>
            </a:r>
            <a:endParaRPr/>
          </a:p>
          <a:p>
            <a:pPr lvl="4">
              <a:defRPr/>
            </a:pPr>
            <a:r>
              <a:rPr lang="zh-CN"/>
              <a:t>五级</a:t>
            </a:r>
            <a:endParaRPr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00508DE-EC9B-4BD0-8DF6-A34963F8D0B7}" type="datetimeFigureOut">
              <a:rPr lang="en-US"/>
              <a:t>10/22/2026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00EDF2F-FFD7-4CEB-AC9C-403B15CF831E}" type="slidenum">
              <a:rPr lang="zh-CN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13" Type="http://schemas.openxmlformats.org/officeDocument/2006/relationships/tags" Target="../tags/tag26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12" Type="http://schemas.openxmlformats.org/officeDocument/2006/relationships/tags" Target="../tags/tag25.xml"/><Relationship Id="rId17" Type="http://schemas.openxmlformats.org/officeDocument/2006/relationships/tags" Target="../tags/tag30.xml"/><Relationship Id="rId2" Type="http://schemas.openxmlformats.org/officeDocument/2006/relationships/tags" Target="../tags/tag15.xml"/><Relationship Id="rId16" Type="http://schemas.openxmlformats.org/officeDocument/2006/relationships/tags" Target="../tags/tag29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tags" Target="../tags/tag24.xml"/><Relationship Id="rId5" Type="http://schemas.openxmlformats.org/officeDocument/2006/relationships/tags" Target="../tags/tag18.xml"/><Relationship Id="rId15" Type="http://schemas.openxmlformats.org/officeDocument/2006/relationships/tags" Target="../tags/tag28.xml"/><Relationship Id="rId10" Type="http://schemas.openxmlformats.org/officeDocument/2006/relationships/tags" Target="../tags/tag23.xml"/><Relationship Id="rId19" Type="http://schemas.openxmlformats.org/officeDocument/2006/relationships/image" Target="../media/image4.tmp"/><Relationship Id="rId4" Type="http://schemas.openxmlformats.org/officeDocument/2006/relationships/tags" Target="../tags/tag17.xml"/><Relationship Id="rId9" Type="http://schemas.openxmlformats.org/officeDocument/2006/relationships/tags" Target="../tags/tag22.xml"/><Relationship Id="rId14" Type="http://schemas.openxmlformats.org/officeDocument/2006/relationships/tags" Target="../tags/tag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0089783" name="标题 1"/>
          <p:cNvSpPr>
            <a:spLocks noGrp="1"/>
          </p:cNvSpPr>
          <p:nvPr>
            <p:ph type="ctr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zh-CN"/>
              <a:t>无代码零基础软件制作</a:t>
            </a:r>
            <a:endParaRPr/>
          </a:p>
        </p:txBody>
      </p:sp>
      <p:sp>
        <p:nvSpPr>
          <p:cNvPr id="2075059357" name="副标题 2"/>
          <p:cNvSpPr>
            <a:spLocks noGrp="1"/>
          </p:cNvSpPr>
          <p:nvPr>
            <p:ph type="subTitle" idx="1"/>
          </p:nvPr>
        </p:nvSpPr>
        <p:spPr bwMode="auto">
          <a:xfrm>
            <a:off x="1523999" y="4348407"/>
            <a:ext cx="9144000" cy="1655761"/>
          </a:xfrm>
        </p:spPr>
        <p:txBody>
          <a:bodyPr/>
          <a:lstStyle/>
          <a:p>
            <a:pPr>
              <a:defRPr/>
            </a:pPr>
            <a:r>
              <a:rPr lang="zh-CN"/>
              <a:t>袁洋</a:t>
            </a:r>
            <a:endParaRPr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微服务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对于复杂后端系统，模块化是必要的</a:t>
            </a:r>
            <a:endParaRPr/>
          </a:p>
          <a:p>
            <a:pPr lvl="1">
              <a:defRPr/>
            </a:pPr>
            <a:r>
              <a:rPr lang="en-US"/>
              <a:t>拆分成更小的微服务，每个微服务做一大类事情</a:t>
            </a:r>
            <a:endParaRPr/>
          </a:p>
          <a:p>
            <a:pPr>
              <a:defRPr/>
            </a:pPr>
            <a:r>
              <a:rPr lang="en-US"/>
              <a:t>每个微服务</a:t>
            </a:r>
            <a:endParaRPr/>
          </a:p>
          <a:p>
            <a:pPr lvl="1">
              <a:defRPr/>
            </a:pPr>
            <a:r>
              <a:rPr lang="en-US"/>
              <a:t>名字是什么？（意味着它的定位）</a:t>
            </a:r>
            <a:endParaRPr/>
          </a:p>
          <a:p>
            <a:pPr lvl="1">
              <a:defRPr/>
            </a:pPr>
            <a:r>
              <a:rPr lang="en-US"/>
              <a:t>有什么数据库？</a:t>
            </a:r>
            <a:endParaRPr/>
          </a:p>
          <a:p>
            <a:pPr lvl="1">
              <a:defRPr/>
            </a:pPr>
            <a:r>
              <a:rPr lang="en-US"/>
              <a:t>有什么API功能？</a:t>
            </a:r>
            <a:endParaRPr/>
          </a:p>
          <a:p>
            <a:pPr>
              <a:defRPr/>
            </a:pPr>
            <a:r>
              <a:rPr lang="en-US"/>
              <a:t>拆分微服务的基本原则</a:t>
            </a:r>
            <a:endParaRPr/>
          </a:p>
          <a:p>
            <a:pPr lvl="1">
              <a:defRPr/>
            </a:pPr>
            <a:r>
              <a:rPr lang="en-US"/>
              <a:t>高内聚：内部相互联系</a:t>
            </a:r>
            <a:endParaRPr/>
          </a:p>
          <a:p>
            <a:pPr lvl="1"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低耦合：外部连接关系弱</a:t>
            </a:r>
            <a:endParaRPr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APIs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API </a:t>
            </a:r>
            <a:r>
              <a:rPr lang="zh-CN" altLang="en-US" dirty="0"/>
              <a:t>描绘微服务的功能，由微服务定位决定</a:t>
            </a:r>
            <a:endParaRPr dirty="0"/>
          </a:p>
          <a:p>
            <a:pPr lvl="1">
              <a:defRPr/>
            </a:pPr>
            <a:r>
              <a:rPr lang="zh-CN" altLang="en-US" dirty="0"/>
              <a:t>处理某些数据库的数据</a:t>
            </a:r>
            <a:endParaRPr lang="en-US" dirty="0"/>
          </a:p>
          <a:p>
            <a:pPr lvl="1">
              <a:defRPr/>
            </a:pPr>
            <a:r>
              <a:rPr lang="zh-CN" altLang="en-US" dirty="0"/>
              <a:t>做某类运算</a:t>
            </a:r>
            <a:endParaRPr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zh-CN" altLang="en-US" dirty="0"/>
              <a:t>考虑你来清华报道的第一天</a:t>
            </a:r>
            <a:endParaRPr lang="en-US" dirty="0"/>
          </a:p>
          <a:p>
            <a:pPr lvl="1">
              <a:defRPr/>
            </a:pPr>
            <a:r>
              <a:rPr lang="zh-CN" altLang="en-US" dirty="0"/>
              <a:t>要去</a:t>
            </a:r>
            <a:r>
              <a:rPr lang="en-US" altLang="zh-CN" dirty="0"/>
              <a:t>A</a:t>
            </a:r>
            <a:r>
              <a:rPr lang="zh-CN" altLang="en-US" dirty="0"/>
              <a:t>楼拿学生卡，</a:t>
            </a:r>
            <a:r>
              <a:rPr lang="en-US" altLang="zh-CN" dirty="0"/>
              <a:t>B</a:t>
            </a:r>
            <a:r>
              <a:rPr lang="zh-CN" altLang="en-US" dirty="0"/>
              <a:t>楼拿新生欢迎礼包，</a:t>
            </a:r>
            <a:r>
              <a:rPr lang="en-US" altLang="zh-CN" dirty="0"/>
              <a:t>C</a:t>
            </a:r>
            <a:r>
              <a:rPr lang="zh-CN" altLang="en-US" dirty="0"/>
              <a:t>楼登记住宿信息，</a:t>
            </a:r>
            <a:r>
              <a:rPr lang="en-US" altLang="zh-CN" dirty="0"/>
              <a:t>D</a:t>
            </a:r>
            <a:r>
              <a:rPr lang="zh-CN" altLang="en-US" dirty="0"/>
              <a:t>楼激活图书馆权限</a:t>
            </a:r>
            <a:r>
              <a:rPr lang="en-US" altLang="zh-CN" dirty="0"/>
              <a:t>……</a:t>
            </a:r>
            <a:endParaRPr dirty="0"/>
          </a:p>
          <a:p>
            <a:pPr lvl="1">
              <a:defRPr/>
            </a:pPr>
            <a:r>
              <a:rPr lang="zh-CN" altLang="en-US" dirty="0"/>
              <a:t>每个楼都可以看做是“微服务”，它们为你提供的服务就是</a:t>
            </a:r>
            <a:r>
              <a:rPr lang="en-US" altLang="zh-CN" dirty="0"/>
              <a:t>API</a:t>
            </a:r>
            <a:endParaRPr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 altLang="en-US" dirty="0"/>
              <a:t>序列化</a:t>
            </a:r>
            <a:endParaRPr 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zh-CN" altLang="en-US" dirty="0"/>
              <a:t>序列化的本质是什么？</a:t>
            </a:r>
            <a:endParaRPr lang="en-US" dirty="0"/>
          </a:p>
          <a:p>
            <a:pPr lvl="1">
              <a:defRPr/>
            </a:pPr>
            <a:r>
              <a:rPr lang="zh-CN" altLang="en-US" dirty="0"/>
              <a:t>是让信息从纯粹的函数式世界，下凡到人间</a:t>
            </a:r>
            <a:endParaRPr lang="en-US" dirty="0"/>
          </a:p>
          <a:p>
            <a:pPr lvl="1">
              <a:defRPr/>
            </a:pPr>
            <a:r>
              <a:rPr lang="zh-CN" altLang="en-US" dirty="0"/>
              <a:t>人间没有复杂类型，只有朴素的字符串</a:t>
            </a:r>
            <a:endParaRPr lang="en-US" dirty="0"/>
          </a:p>
          <a:p>
            <a:pPr lvl="1">
              <a:defRPr/>
            </a:pPr>
            <a:r>
              <a:rPr lang="zh-CN" altLang="en-US" dirty="0"/>
              <a:t>如果你要从一个微服务传输数据到另一个微服务，只能用字符串</a:t>
            </a:r>
            <a:endParaRPr dirty="0"/>
          </a:p>
          <a:p>
            <a:pPr>
              <a:defRPr/>
            </a:pPr>
            <a:r>
              <a:rPr lang="zh-CN" altLang="en-US" dirty="0"/>
              <a:t>课程推荐框架可以不考虑微服务间传输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逻辑上分开，实现上合在一起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但对于大系统，微服务是必要的</a:t>
            </a:r>
            <a:endParaRPr dirty="0"/>
          </a:p>
          <a:p>
            <a:pPr>
              <a:defRPr/>
            </a:pPr>
            <a:r>
              <a:rPr lang="zh-CN" altLang="en-US" dirty="0"/>
              <a:t>序列化：统一地将对象和字符串相互转换</a:t>
            </a:r>
            <a:endParaRPr dirty="0"/>
          </a:p>
          <a:p>
            <a:pPr lvl="1">
              <a:defRPr/>
            </a:pPr>
            <a:r>
              <a:rPr lang="zh-CN" altLang="en-US" dirty="0"/>
              <a:t>序列化：对象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>
                <a:sym typeface="Wingdings" panose="05000000000000000000" pitchFamily="2" charset="2"/>
              </a:rPr>
              <a:t>字符串</a:t>
            </a:r>
            <a:endParaRPr lang="en-US" altLang="zh-CN" dirty="0">
              <a:sym typeface="Wingdings" panose="05000000000000000000" pitchFamily="2" charset="2"/>
            </a:endParaRPr>
          </a:p>
          <a:p>
            <a:pPr lvl="1">
              <a:defRPr/>
            </a:pPr>
            <a:r>
              <a:rPr lang="zh-CN" altLang="en-US" dirty="0">
                <a:sym typeface="Wingdings" panose="05000000000000000000" pitchFamily="2" charset="2"/>
              </a:rPr>
              <a:t>逆序劣化：字符串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>
                <a:sym typeface="Wingdings" panose="05000000000000000000" pitchFamily="2" charset="2"/>
              </a:rPr>
              <a:t>对象</a:t>
            </a:r>
            <a:endParaRPr lang="en-US" dirty="0"/>
          </a:p>
          <a:p>
            <a:pPr lvl="1">
              <a:defRPr/>
            </a:pPr>
            <a:endParaRPr lang="zh-CN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Circe</a:t>
            </a:r>
            <a:endParaRPr lang="zh-CN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4"/>
          <a:stretch/>
        </p:blipFill>
        <p:spPr bwMode="auto">
          <a:xfrm>
            <a:off x="2280540" y="1189889"/>
            <a:ext cx="9428358" cy="523111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 altLang="en-US" dirty="0"/>
              <a:t>面向数据库的序列化</a:t>
            </a:r>
            <a:endParaRPr 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zh-CN" altLang="en-US" dirty="0"/>
              <a:t>基础类型就直接写，复杂类型要序列化之后写成字符串</a:t>
            </a:r>
            <a:endParaRPr dirty="0"/>
          </a:p>
          <a:p>
            <a:pPr>
              <a:defRPr/>
            </a:pPr>
            <a:r>
              <a:rPr lang="en-US" dirty="0"/>
              <a:t>List[Int]: int[]</a:t>
            </a:r>
            <a:endParaRPr lang="zh-CN" dirty="0"/>
          </a:p>
          <a:p>
            <a:pPr>
              <a:defRPr/>
            </a:pPr>
            <a:r>
              <a:rPr lang="en-US" altLang="zh-CN" dirty="0"/>
              <a:t>List[T] </a:t>
            </a:r>
            <a:r>
              <a:rPr lang="en-US" altLang="zh-CN" dirty="0">
                <a:sym typeface="Wingdings" panose="05000000000000000000" pitchFamily="2" charset="2"/>
              </a:rPr>
              <a:t> text</a:t>
            </a:r>
            <a:r>
              <a:rPr lang="zh-CN" altLang="en-US" dirty="0">
                <a:sym typeface="Wingdings" panose="05000000000000000000" pitchFamily="2" charset="2"/>
              </a:rPr>
              <a:t>， 这样便于阅读和检索</a:t>
            </a:r>
            <a:endParaRPr lang="en-US" dirty="0"/>
          </a:p>
          <a:p>
            <a:pPr lvl="1">
              <a:defRPr/>
            </a:pPr>
            <a:r>
              <a:rPr lang="zh-CN" altLang="en-US" dirty="0"/>
              <a:t>也可以考虑存成</a:t>
            </a:r>
            <a:r>
              <a:rPr lang="en-US" altLang="zh-CN" dirty="0" err="1"/>
              <a:t>json</a:t>
            </a:r>
            <a:r>
              <a:rPr lang="zh-CN" altLang="en-US" dirty="0"/>
              <a:t>格式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 altLang="en-US" dirty="0"/>
              <a:t>数据库的初始化举例</a:t>
            </a:r>
            <a:endParaRPr lang="zh-CN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4"/>
          <a:stretch/>
        </p:blipFill>
        <p:spPr bwMode="auto">
          <a:xfrm>
            <a:off x="5084601" y="1601929"/>
            <a:ext cx="6309029" cy="4890946"/>
          </a:xfrm>
        </p:spPr>
      </p:pic>
      <p:sp>
        <p:nvSpPr>
          <p:cNvPr id="7" name="文本框 6"/>
          <p:cNvSpPr txBox="1"/>
          <p:nvPr/>
        </p:nvSpPr>
        <p:spPr bwMode="auto">
          <a:xfrm>
            <a:off x="902710" y="2120751"/>
            <a:ext cx="3466668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/>
              <a:buChar char="•"/>
              <a:defRPr/>
            </a:pPr>
            <a:r>
              <a:rPr lang="en-US" sz="2800"/>
              <a:t>Time:DateTime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en-US" sz="2800"/>
              <a:t>my_class:MyClass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en-US" sz="2800"/>
              <a:t>id_class:IDClass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en-US" sz="2800"/>
              <a:t>List1:List[MyClass]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en-US" sz="2800"/>
              <a:t>List2:List[IDClass]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en-US" sz="2800"/>
              <a:t>location_type:LocationType</a:t>
            </a:r>
            <a:endParaRPr lang="zh-CN" sz="2800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>
          <a:xfrm>
            <a:off x="838200" y="-255764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 dirty="0"/>
              <a:t>Git </a:t>
            </a:r>
            <a:r>
              <a:rPr lang="zh-CN" altLang="en-US" dirty="0"/>
              <a:t>版本管理</a:t>
            </a:r>
            <a:endParaRPr 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 bwMode="auto">
          <a:xfrm>
            <a:off x="838200" y="912812"/>
            <a:ext cx="10515600" cy="624434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zh-CN" altLang="en-US" dirty="0"/>
              <a:t>基本元素</a:t>
            </a:r>
            <a:endParaRPr dirty="0"/>
          </a:p>
          <a:p>
            <a:pPr lvl="1">
              <a:defRPr/>
            </a:pPr>
            <a:r>
              <a:rPr lang="en-US" dirty="0"/>
              <a:t>Repository: </a:t>
            </a:r>
            <a:r>
              <a:rPr lang="zh-CN" altLang="en-US" dirty="0"/>
              <a:t>放代码的仓库</a:t>
            </a:r>
            <a:endParaRPr dirty="0"/>
          </a:p>
          <a:p>
            <a:pPr lvl="1">
              <a:defRPr/>
            </a:pPr>
            <a:r>
              <a:rPr lang="en-US" dirty="0"/>
              <a:t>Commit: </a:t>
            </a:r>
            <a:r>
              <a:rPr lang="zh-CN" altLang="en-US" dirty="0"/>
              <a:t>某一次代码快照</a:t>
            </a:r>
            <a:endParaRPr dirty="0"/>
          </a:p>
          <a:p>
            <a:pPr lvl="1">
              <a:defRPr/>
            </a:pPr>
            <a:r>
              <a:rPr lang="en-US" dirty="0"/>
              <a:t>Branch: </a:t>
            </a:r>
            <a:r>
              <a:rPr lang="zh-CN" altLang="en-US" dirty="0"/>
              <a:t>不同的代码开发分支（虚体，不是实体）</a:t>
            </a:r>
            <a:endParaRPr dirty="0"/>
          </a:p>
          <a:p>
            <a:pPr lvl="1">
              <a:defRPr/>
            </a:pPr>
            <a:r>
              <a:rPr lang="zh-CN" altLang="en-US" dirty="0"/>
              <a:t>本地与远端</a:t>
            </a:r>
            <a:endParaRPr dirty="0"/>
          </a:p>
          <a:p>
            <a:pPr>
              <a:defRPr/>
            </a:pPr>
            <a:r>
              <a:rPr lang="zh-CN" altLang="en-US" dirty="0"/>
              <a:t>操作</a:t>
            </a:r>
            <a:endParaRPr dirty="0"/>
          </a:p>
          <a:p>
            <a:pPr lvl="1">
              <a:defRPr/>
            </a:pPr>
            <a:r>
              <a:rPr lang="en-US" dirty="0"/>
              <a:t>Git clone: </a:t>
            </a:r>
            <a:r>
              <a:rPr lang="zh-CN" altLang="en-US" dirty="0"/>
              <a:t>从网上把某个代码库复制下来</a:t>
            </a:r>
            <a:endParaRPr dirty="0"/>
          </a:p>
          <a:p>
            <a:pPr lvl="1">
              <a:defRPr/>
            </a:pPr>
            <a:r>
              <a:rPr lang="en-US" dirty="0"/>
              <a:t>Git pull:  </a:t>
            </a:r>
            <a:r>
              <a:rPr lang="zh-CN" altLang="en-US" dirty="0"/>
              <a:t>从远端同步更新的内容</a:t>
            </a:r>
            <a:endParaRPr dirty="0"/>
          </a:p>
          <a:p>
            <a:pPr lvl="1">
              <a:defRPr/>
            </a:pPr>
            <a:r>
              <a:rPr lang="en-US" dirty="0"/>
              <a:t>Git status: </a:t>
            </a:r>
            <a:r>
              <a:rPr lang="zh-CN" altLang="en-US" dirty="0"/>
              <a:t>看一下本地仓库状态</a:t>
            </a:r>
            <a:endParaRPr dirty="0"/>
          </a:p>
          <a:p>
            <a:pPr lvl="1">
              <a:defRPr/>
            </a:pPr>
            <a:r>
              <a:rPr lang="en-US" dirty="0"/>
              <a:t>Git add: </a:t>
            </a:r>
            <a:r>
              <a:rPr lang="zh-CN" altLang="en-US" dirty="0"/>
              <a:t>把当前修改加入临时版本</a:t>
            </a:r>
            <a:endParaRPr dirty="0"/>
          </a:p>
          <a:p>
            <a:pPr lvl="1">
              <a:defRPr/>
            </a:pPr>
            <a:r>
              <a:rPr lang="en-US" dirty="0"/>
              <a:t>Git commit: </a:t>
            </a:r>
            <a:r>
              <a:rPr lang="zh-CN" altLang="en-US" dirty="0"/>
              <a:t>把当前的临时版本变成一个快照</a:t>
            </a:r>
            <a:endParaRPr dirty="0"/>
          </a:p>
          <a:p>
            <a:pPr lvl="1">
              <a:defRPr/>
            </a:pPr>
            <a:r>
              <a:rPr lang="en-US" dirty="0"/>
              <a:t>Git push: </a:t>
            </a:r>
            <a:r>
              <a:rPr lang="zh-CN" altLang="en-US" dirty="0"/>
              <a:t>把快照提交到远端</a:t>
            </a:r>
            <a:endParaRPr dirty="0"/>
          </a:p>
          <a:p>
            <a:pPr lvl="1">
              <a:defRPr/>
            </a:pPr>
            <a:r>
              <a:rPr lang="en-US" dirty="0"/>
              <a:t>Git checkout: </a:t>
            </a:r>
            <a:r>
              <a:rPr lang="zh-CN" altLang="en-US" dirty="0"/>
              <a:t>切换到别的分支</a:t>
            </a:r>
            <a:endParaRPr lang="en-US" altLang="zh-CN" dirty="0"/>
          </a:p>
          <a:p>
            <a:pPr lvl="1">
              <a:defRPr/>
            </a:pPr>
            <a:r>
              <a:rPr lang="en-US" dirty="0"/>
              <a:t>Git merge: </a:t>
            </a:r>
            <a:r>
              <a:rPr lang="zh-CN" altLang="en-US" dirty="0"/>
              <a:t>把另一个分支的内容合并到当前分支</a:t>
            </a:r>
            <a:endParaRPr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pic>
        <p:nvPicPr>
          <p:cNvPr id="4" name="Picture 2" descr="See the source image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866775" y="442913"/>
            <a:ext cx="10458450" cy="5972175"/>
          </a:xfrm>
          <a:prstGeom prst="rect">
            <a:avLst/>
          </a:prstGeom>
          <a:noFill/>
        </p:spPr>
      </p:pic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>
          <a:xfrm>
            <a:off x="838200" y="2766218"/>
            <a:ext cx="10515600" cy="1325563"/>
          </a:xfrm>
        </p:spPr>
        <p:txBody>
          <a:bodyPr/>
          <a:lstStyle/>
          <a:p>
            <a:pPr algn="ctr">
              <a:defRPr/>
            </a:pPr>
            <a:r>
              <a:rPr lang="zh-CN" altLang="en-US" dirty="0"/>
              <a:t>数据库</a:t>
            </a:r>
            <a:endParaRPr lang="zh-CN" dirty="0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 altLang="en-US" dirty="0"/>
              <a:t>数据库简介</a:t>
            </a:r>
            <a:endParaRPr 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zh-CN" altLang="en-US" dirty="0"/>
              <a:t>用一些表格把数据存放起来，便于查找、分析、管理</a:t>
            </a:r>
            <a:endParaRPr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zh-CN" altLang="en-US" dirty="0"/>
              <a:t>那为什么不用</a:t>
            </a:r>
            <a:r>
              <a:rPr lang="en-US" altLang="zh-CN" dirty="0"/>
              <a:t>excel</a:t>
            </a:r>
            <a:r>
              <a:rPr lang="zh-CN" altLang="en-US" dirty="0"/>
              <a:t>？</a:t>
            </a:r>
            <a:endParaRPr lang="en-US" dirty="0"/>
          </a:p>
          <a:p>
            <a:pPr lvl="1">
              <a:defRPr/>
            </a:pPr>
            <a:r>
              <a:rPr lang="zh-CN" altLang="en-US" dirty="0"/>
              <a:t>规模性：数据库可以轻松处理千万行数据</a:t>
            </a:r>
            <a:endParaRPr dirty="0"/>
          </a:p>
          <a:p>
            <a:pPr lvl="1">
              <a:defRPr/>
            </a:pPr>
            <a:r>
              <a:rPr lang="zh-CN" altLang="en-US" dirty="0"/>
              <a:t>并发性：多用户可以同时读写数据库，互不影响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关系型数据库：数据库的关系型组织方式可以高效查询处理数据</a:t>
            </a:r>
            <a:endParaRPr dirty="0"/>
          </a:p>
          <a:p>
            <a:pPr>
              <a:defRPr/>
            </a:pPr>
            <a:endParaRPr 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 altLang="en-US" dirty="0"/>
              <a:t>表格和关系</a:t>
            </a:r>
            <a:endParaRPr 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 bwMode="auto"/>
        <p:txBody>
          <a:bodyPr>
            <a:normAutofit lnSpcReduction="10000"/>
          </a:bodyPr>
          <a:lstStyle/>
          <a:p>
            <a:pPr>
              <a:defRPr/>
            </a:pPr>
            <a:r>
              <a:rPr lang="zh-CN" altLang="en-US" dirty="0"/>
              <a:t>表格结构</a:t>
            </a:r>
            <a:endParaRPr dirty="0"/>
          </a:p>
          <a:p>
            <a:pPr lvl="1">
              <a:defRPr/>
            </a:pPr>
            <a:r>
              <a:rPr lang="zh-CN" altLang="en-US" dirty="0"/>
              <a:t>行：表达一组数据，例如一个学生的姓名、学号、年龄等</a:t>
            </a:r>
            <a:endParaRPr dirty="0"/>
          </a:p>
          <a:p>
            <a:pPr lvl="1">
              <a:defRPr/>
            </a:pPr>
            <a:r>
              <a:rPr lang="zh-CN" altLang="en-US" dirty="0"/>
              <a:t>列：表达某一类信息，例如当前表格所有同学的姓名</a:t>
            </a:r>
            <a:endParaRPr dirty="0"/>
          </a:p>
          <a:p>
            <a:pPr>
              <a:defRPr/>
            </a:pPr>
            <a:r>
              <a:rPr lang="zh-CN" altLang="en-US" dirty="0"/>
              <a:t>强类型：每一列都有自己的类型，例如整数、字符串、时间等</a:t>
            </a:r>
            <a:endParaRPr dirty="0"/>
          </a:p>
          <a:p>
            <a:pPr lvl="1">
              <a:defRPr/>
            </a:pPr>
            <a:r>
              <a:rPr lang="zh-CN" altLang="en-US" dirty="0"/>
              <a:t>你不能把一个字符串放到“价格”列中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但都是基本类型，没有复杂类型</a:t>
            </a:r>
            <a:endParaRPr dirty="0"/>
          </a:p>
          <a:p>
            <a:pPr>
              <a:defRPr/>
            </a:pPr>
            <a:r>
              <a:rPr lang="zh-CN" altLang="en-US" dirty="0"/>
              <a:t>主键：每一行的独一无二的标志，每个表格都推荐有主键</a:t>
            </a:r>
            <a:endParaRPr dirty="0"/>
          </a:p>
          <a:p>
            <a:pPr lvl="1">
              <a:defRPr/>
            </a:pPr>
            <a:r>
              <a:rPr lang="zh-CN" altLang="en-US" dirty="0"/>
              <a:t>任意两行的主键不能相同，例如学号</a:t>
            </a:r>
            <a:endParaRPr dirty="0"/>
          </a:p>
          <a:p>
            <a:pPr>
              <a:defRPr/>
            </a:pPr>
            <a:r>
              <a:rPr lang="zh-CN" altLang="en-US" dirty="0"/>
              <a:t>外键：一个表格的某一列可能是外键，它是另一个表格的主键，例如学号</a:t>
            </a:r>
            <a:endParaRPr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431CF-3DD1-4B70-EFED-0C94DC9C7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7489AC21-9F73-F122-605F-B685340B87B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签到：黑板上写的是什么？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43C0448-55AE-4477-7CAE-90D0BA7967E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C1AE4C4-875C-AE4B-A6E6-909B63E948E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CB17B8E7-652F-5C96-E40D-B72CEDB2D6C8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7E5DB54-6F10-B77C-5541-AA3B8F5C5D17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16E461D-8B1A-0217-E44D-22906664DC0E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878F0A7-6464-5C3E-A953-0059F3409AAD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7115DBDC-4165-64FE-88C3-5ACF547D6A71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810D9D1-ACAB-822B-6D38-6EECA73CDCDC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BCD7404C-1739-A8B6-9E4B-F82D5FB2449C}"/>
              </a:ext>
            </a:extLst>
          </p:cNvPr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23E8BAC9-FECD-E7D6-2DA4-74C88F85ED87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1257DAD3-4AAB-13B3-6F6B-67970C490C8E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C603716A-0486-EFA2-EBF1-04F10E8CEFC3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2C309107-ADD7-D982-E75F-C4BC26D17A9F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3" name="TipText">
              <a:extLst>
                <a:ext uri="{FF2B5EF4-FFF2-40B4-BE49-F238E27FC236}">
                  <a16:creationId xmlns:a16="http://schemas.microsoft.com/office/drawing/2014/main" id="{5E40AE57-AEC6-4803-BE3F-06CFF7F8EB6C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AF459ADC-6572-6244-95FF-BDF0EF8C27DC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95978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PRESID" val="1792069219727270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2069219735043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2069219735812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2069219749326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2069219749598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2069219749544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2069219749842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2069219749444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2069219749416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20692197490769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20692197651737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2069219765340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2069219765302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ONYMOUSPOLLING" val="False"/>
  <p:tag name="RAINPROBLEMTYPE" val="MultipleChoice"/>
  <p:tag name="RAINPROBLEM" val="MultipleChoice"/>
  <p:tag name="PROBLEMSCORE" val="1.0"/>
  <p:tag name="LOCALSLIDEID" val="1789882110631319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Arial"/>
        <a:cs typeface="Arial"/>
      </a:majorFont>
      <a:minorFont>
        <a:latin typeface="等线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Arial"/>
        <a:cs typeface="Arial"/>
      </a:majorFont>
      <a:minorFont>
        <a:latin typeface="等线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911</Words>
  <Application>Microsoft Office PowerPoint</Application>
  <PresentationFormat>宽屏</PresentationFormat>
  <Paragraphs>101</Paragraphs>
  <Slides>13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9" baseType="lpstr">
      <vt:lpstr>等线</vt:lpstr>
      <vt:lpstr>等线 Light</vt:lpstr>
      <vt:lpstr>Microsoft Yahei</vt:lpstr>
      <vt:lpstr>Arial</vt:lpstr>
      <vt:lpstr>Wingdings</vt:lpstr>
      <vt:lpstr>Office 主题​​</vt:lpstr>
      <vt:lpstr>无代码零基础软件制作</vt:lpstr>
      <vt:lpstr>微服务</vt:lpstr>
      <vt:lpstr>APIs</vt:lpstr>
      <vt:lpstr>序列化</vt:lpstr>
      <vt:lpstr>Circe</vt:lpstr>
      <vt:lpstr>面向数据库的序列化</vt:lpstr>
      <vt:lpstr>数据库的初始化举例</vt:lpstr>
      <vt:lpstr>Git 版本管理</vt:lpstr>
      <vt:lpstr>PowerPoint 演示文稿</vt:lpstr>
      <vt:lpstr>数据库</vt:lpstr>
      <vt:lpstr>数据库简介</vt:lpstr>
      <vt:lpstr>表格和关系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Yuan Yang</dc:creator>
  <cp:lastModifiedBy>Yang Yuan</cp:lastModifiedBy>
  <cp:revision>327</cp:revision>
  <dcterms:created xsi:type="dcterms:W3CDTF">2022-07-30T06:10:28Z</dcterms:created>
  <dcterms:modified xsi:type="dcterms:W3CDTF">2026-10-22T08:04:08Z</dcterms:modified>
</cp:coreProperties>
</file>